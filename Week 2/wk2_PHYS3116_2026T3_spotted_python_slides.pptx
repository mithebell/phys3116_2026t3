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9" r:id="rId5"/>
    <p:sldMasterId id="2147483681" r:id="rId6"/>
  </p:sldMasterIdLst>
  <p:notesMasterIdLst>
    <p:notesMasterId r:id="rId13"/>
  </p:notesMasterIdLst>
  <p:handoutMasterIdLst>
    <p:handoutMasterId r:id="rId14"/>
  </p:handoutMasterIdLst>
  <p:sldIdLst>
    <p:sldId id="258" r:id="rId7"/>
    <p:sldId id="298" r:id="rId8"/>
    <p:sldId id="299" r:id="rId9"/>
    <p:sldId id="300" r:id="rId10"/>
    <p:sldId id="301" r:id="rId11"/>
    <p:sldId id="30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0" autoAdjust="0"/>
    <p:restoredTop sz="86507" autoAdjust="0"/>
  </p:normalViewPr>
  <p:slideViewPr>
    <p:cSldViewPr snapToGrid="0" snapToObjects="1">
      <p:cViewPr varScale="1">
        <p:scale>
          <a:sx n="109" d="100"/>
          <a:sy n="109" d="100"/>
        </p:scale>
        <p:origin x="85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55" d="100"/>
          <a:sy n="155" d="100"/>
        </p:scale>
        <p:origin x="598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425C8D-C5AF-9F4F-9E24-5C2DC72753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1E46C-AA4E-214A-A45C-A09C6AE0B0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442EA-0DF9-924B-8435-17D563E57AC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AFBB1-2BB3-DA46-A158-0722D5A310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D7EA5-B09A-264C-ABF4-E27232AD2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321C2-EC5F-E04A-AFC0-A1F418A55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81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955B6-3D2D-2944-B7F4-FE074C92CB4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6ACD0-BE8A-3D4B-8E89-B0E6ACFF5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7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62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76E31-1EA1-274A-A1AD-5915E61D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NSW Sydney Logo">
            <a:extLst>
              <a:ext uri="{FF2B5EF4-FFF2-40B4-BE49-F238E27FC236}">
                <a16:creationId xmlns:a16="http://schemas.microsoft.com/office/drawing/2014/main" id="{F0BF8575-4955-BC4A-80DE-4BF637C59C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93240" y="522000"/>
            <a:ext cx="1188000" cy="1240241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1960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BC9DD3-2081-9D4A-BCDD-FD7DDC635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6367954-2926-486A-95D7-D57A05D0A1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67151" y="5261593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385383" y="-277157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28400" y="0"/>
            <a:ext cx="6663600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87B7DB84-DBF6-43D5-A225-64A86E32A4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071" y="5320585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6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D9F833-BA4F-E348-9506-0D3D621C75CA}"/>
              </a:ext>
            </a:extLst>
          </p:cNvPr>
          <p:cNvSpPr/>
          <p:nvPr userDrawn="1"/>
        </p:nvSpPr>
        <p:spPr>
          <a:xfrm>
            <a:off x="6740525" y="1"/>
            <a:ext cx="5453294" cy="501575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FF675AE0-8F62-485C-BF3D-6598839BA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2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E16058-FC97-C34C-A94D-1AEBA1319CEF}"/>
              </a:ext>
            </a:extLst>
          </p:cNvPr>
          <p:cNvSpPr/>
          <p:nvPr userDrawn="1"/>
        </p:nvSpPr>
        <p:spPr>
          <a:xfrm>
            <a:off x="1" y="0"/>
            <a:ext cx="12191999" cy="5000624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B927EE41-A83A-A9AD-F2C3-0827F1440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3024056">
            <a:off x="3583339" y="-257331"/>
            <a:ext cx="6243723" cy="7372662"/>
          </a:xfrm>
          <a:prstGeom prst="rect">
            <a:avLst/>
          </a:prstGeom>
        </p:spPr>
      </p:pic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21B83991-6CB1-46A6-A70E-59562F1A45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85" y="3515321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5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03B341F3-514D-F42F-D0AA-C75B36DDF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59043" y="1428646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icon to add pictur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77E20C77-3D0A-4A35-878B-F3D37CBE05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630" y="526455"/>
            <a:ext cx="1188000" cy="1240241"/>
          </a:xfrm>
          <a:prstGeom prst="rect">
            <a:avLst/>
          </a:prstGeom>
        </p:spPr>
      </p:pic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73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E4149BEC-B55D-3611-DBCF-0E9A57DC67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0014F36-07A5-3AE9-AB47-224C3C934A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93600" y="5419759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064B1A81-90D8-9D68-62EB-C2915DE66A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0400" y="275357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0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23/9/2026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817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23/9/2026</a:t>
            </a:fld>
            <a:endParaRPr lang="en-AU" dirty="0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220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 descr="Click to edit body text styles on the left side of slide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 descr="Click to edit body text styles on the right side of slide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23/9/2026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800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23/9/2026</a:t>
            </a:fld>
            <a:endParaRPr lang="en-AU" dirty="0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129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3AC5B-4BEF-3F81-2082-0A3885418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l="30378"/>
          <a:stretch/>
        </p:blipFill>
        <p:spPr>
          <a:xfrm rot="10800000">
            <a:off x="8269200" y="-1"/>
            <a:ext cx="3922800" cy="6069303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75487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1557173" y="-82749"/>
            <a:ext cx="5957925" cy="6417766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421259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icon to add pictur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49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5549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491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89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23/9/2026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21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23/9/2026</a:t>
            </a:fld>
            <a:endParaRPr lang="en-AU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32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23/9/2026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77420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23/9/2026</a:t>
            </a:fld>
            <a:endParaRPr lang="en-AU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7384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1749104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253302" y="-398755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00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504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293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856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838487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1" y="0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8204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381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">
            <a:extLst>
              <a:ext uri="{FF2B5EF4-FFF2-40B4-BE49-F238E27FC236}">
                <a16:creationId xmlns:a16="http://schemas.microsoft.com/office/drawing/2014/main" id="{70841D79-9C5E-1449-B506-564E0213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Title goes here</a:t>
            </a:r>
            <a:endParaRPr lang="en-US" dirty="0"/>
          </a:p>
        </p:txBody>
      </p:sp>
      <p:sp>
        <p:nvSpPr>
          <p:cNvPr id="3" name="Text Placeholder 2" descr="Click to add secondary details&#10;">
            <a:extLst>
              <a:ext uri="{FF2B5EF4-FFF2-40B4-BE49-F238E27FC236}">
                <a16:creationId xmlns:a16="http://schemas.microsoft.com/office/drawing/2014/main" id="{4A50093E-B476-CE4A-816B-226988C6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392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2" r:id="rId3"/>
    <p:sldLayoutId id="2147483651" r:id="rId4"/>
    <p:sldLayoutId id="2147483653" r:id="rId5"/>
    <p:sldLayoutId id="2147483650" r:id="rId6"/>
    <p:sldLayoutId id="2147483746" r:id="rId7"/>
    <p:sldLayoutId id="2147483747" r:id="rId8"/>
    <p:sldLayoutId id="2147483748" r:id="rId9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ct val="0"/>
        </a:spcBef>
        <a:buNone/>
        <a:defRPr sz="8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﻿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body text styles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090FF-0D07-44EF-BE91-92BA9AB775B9}" type="datetimeFigureOut">
              <a:rPr lang="en-AU" smtClean="0"/>
              <a:t>23/9/2026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7CA2B4-C8AB-4F09-B260-BA7609DF0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706290" y="372291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NSW Sydney Logo">
            <a:extLst>
              <a:ext uri="{FF2B5EF4-FFF2-40B4-BE49-F238E27FC236}">
                <a16:creationId xmlns:a16="http://schemas.microsoft.com/office/drawing/2014/main" id="{84EF7EA2-D124-438C-BF7A-68B3D68783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8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23/9/2026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D9B66-E5D8-458F-B15F-FCAE5CAD7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353696" y="3019698"/>
            <a:ext cx="6858002" cy="818606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SW Sydney Logo">
            <a:extLst>
              <a:ext uri="{FF2B5EF4-FFF2-40B4-BE49-F238E27FC236}">
                <a16:creationId xmlns:a16="http://schemas.microsoft.com/office/drawing/2014/main" id="{725B2B7F-7BA2-426B-BEF7-9C26ECD9179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5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6" r:id="rId3"/>
    <p:sldLayoutId id="2147483687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12" r:id="rId10"/>
    <p:sldLayoutId id="2147483713" r:id="rId11"/>
    <p:sldLayoutId id="214748371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www.markdownguide.org/cheat-sheet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056FE98-CDF1-60B3-3350-15C796313F68}"/>
              </a:ext>
            </a:extLst>
          </p:cNvPr>
          <p:cNvSpPr txBox="1">
            <a:spLocks/>
          </p:cNvSpPr>
          <p:nvPr/>
        </p:nvSpPr>
        <p:spPr>
          <a:xfrm>
            <a:off x="0" y="2168785"/>
            <a:ext cx="10017457" cy="2520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accent6"/>
                </a:solidFill>
              </a:rPr>
              <a:t>Spotted Python</a:t>
            </a:r>
            <a:br>
              <a:rPr lang="en-US" b="1" dirty="0">
                <a:solidFill>
                  <a:schemeClr val="accent6"/>
                </a:solidFill>
              </a:rPr>
            </a:br>
            <a:r>
              <a:rPr lang="en-US" b="1" dirty="0">
                <a:solidFill>
                  <a:schemeClr val="accent5"/>
                </a:solidFill>
              </a:rPr>
              <a:t>Week 2 Tutorial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BF90C2-8DBD-947C-736F-4252A0810392}"/>
              </a:ext>
            </a:extLst>
          </p:cNvPr>
          <p:cNvSpPr txBox="1">
            <a:spLocks/>
          </p:cNvSpPr>
          <p:nvPr/>
        </p:nvSpPr>
        <p:spPr>
          <a:xfrm>
            <a:off x="10017457" y="5934670"/>
            <a:ext cx="2174543" cy="9233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﻿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Blip>
                <a:blip r:embed="rId2"/>
              </a:buBlip>
            </a:pPr>
            <a:r>
              <a:rPr lang="en-US" dirty="0"/>
              <a:t>Markdown</a:t>
            </a:r>
          </a:p>
          <a:p>
            <a:pPr marL="285750" indent="-285750">
              <a:buBlip>
                <a:blip r:embed="rId2"/>
              </a:buBlip>
            </a:pPr>
            <a:r>
              <a:rPr lang="en-US" dirty="0"/>
              <a:t>Modules</a:t>
            </a:r>
          </a:p>
          <a:p>
            <a:pPr marL="285750" indent="-285750">
              <a:buBlip>
                <a:blip r:embed="rId2"/>
              </a:buBlip>
            </a:pPr>
            <a:r>
              <a:rPr lang="en-US" dirty="0"/>
              <a:t>Lists and Arrays</a:t>
            </a:r>
          </a:p>
        </p:txBody>
      </p:sp>
    </p:spTree>
    <p:extLst>
      <p:ext uri="{BB962C8B-B14F-4D97-AF65-F5344CB8AC3E}">
        <p14:creationId xmlns:p14="http://schemas.microsoft.com/office/powerpoint/2010/main" val="11104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4C39-3032-3BD6-EA9C-3DB93C05A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24FCE-A895-B016-21F2-969BCAF1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Markdown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25E2B-4579-EC86-175C-20EBDB74E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3"/>
              </a:buBlip>
            </a:pPr>
            <a:r>
              <a:rPr lang="en-US" dirty="0"/>
              <a:t>Text-to-HTML conversion tool</a:t>
            </a:r>
          </a:p>
          <a:p>
            <a:pPr marL="457200" indent="-457200">
              <a:buBlip>
                <a:blip r:embed="rId3"/>
              </a:buBlip>
            </a:pPr>
            <a:r>
              <a:rPr lang="en-US" dirty="0"/>
              <a:t>Can be used in </a:t>
            </a:r>
            <a:r>
              <a:rPr lang="en-US" dirty="0" err="1"/>
              <a:t>Jupyter</a:t>
            </a:r>
            <a:r>
              <a:rPr lang="en-US" dirty="0"/>
              <a:t> Notebooks for annotation of code</a:t>
            </a:r>
          </a:p>
          <a:p>
            <a:pPr marL="457200" indent="-457200">
              <a:buBlip>
                <a:blip r:embed="rId3"/>
              </a:buBlip>
            </a:pPr>
            <a:endParaRPr lang="en-US" dirty="0"/>
          </a:p>
          <a:p>
            <a:pPr marL="457200" indent="-457200">
              <a:buBlip>
                <a:blip r:embed="rId3"/>
              </a:buBlip>
            </a:pPr>
            <a:endParaRPr lang="en-US" dirty="0"/>
          </a:p>
          <a:p>
            <a:pPr marL="457200" indent="-457200">
              <a:buBlip>
                <a:blip r:embed="rId3"/>
              </a:buBlip>
            </a:pPr>
            <a:endParaRPr lang="en-US" dirty="0"/>
          </a:p>
          <a:p>
            <a:pPr marL="457200" indent="-457200">
              <a:buBlip>
                <a:blip r:embed="rId3"/>
              </a:buBlip>
            </a:pPr>
            <a:endParaRPr lang="en-US" dirty="0"/>
          </a:p>
          <a:p>
            <a:pPr marL="457200" indent="-457200">
              <a:buBlip>
                <a:blip r:embed="rId3"/>
              </a:buBlip>
            </a:pPr>
            <a:endParaRPr lang="en-US" dirty="0"/>
          </a:p>
          <a:p>
            <a:pPr marL="457200" indent="-457200">
              <a:buBlip>
                <a:blip r:embed="rId3"/>
              </a:buBlip>
            </a:pPr>
            <a:endParaRPr lang="en-US" dirty="0"/>
          </a:p>
          <a:p>
            <a:pPr marL="457200" indent="-457200">
              <a:buBlip>
                <a:blip r:embed="rId3"/>
              </a:buBlip>
            </a:pPr>
            <a:r>
              <a:rPr lang="en-US" dirty="0"/>
              <a:t>Allows mathematical expressions in LaTeX-style syntax</a:t>
            </a:r>
          </a:p>
          <a:p>
            <a:pPr marL="457200" indent="-457200">
              <a:buBlip>
                <a:blip r:embed="rId3"/>
              </a:buBlip>
            </a:pPr>
            <a:r>
              <a:rPr lang="en-US" dirty="0"/>
              <a:t>Cheat sheet: </a:t>
            </a:r>
            <a:r>
              <a:rPr lang="en-US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https://www.markdownguide.org/cheat-sheet/</a:t>
            </a:r>
            <a:endParaRPr lang="en-US" dirty="0">
              <a:solidFill>
                <a:schemeClr val="accent5"/>
              </a:solidFill>
            </a:endParaRPr>
          </a:p>
          <a:p>
            <a:pPr marL="457200" indent="-457200">
              <a:buBlip>
                <a:blip r:embed="rId3"/>
              </a:buBlip>
            </a:pPr>
            <a:r>
              <a:rPr lang="en-US" dirty="0"/>
              <a:t>Complete</a:t>
            </a:r>
            <a:r>
              <a:rPr lang="en-US" b="1" dirty="0"/>
              <a:t> Exercise 1</a:t>
            </a:r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CC658D-8900-55D2-EA76-2A8801237274}"/>
              </a:ext>
            </a:extLst>
          </p:cNvPr>
          <p:cNvGraphicFramePr>
            <a:graphicFrameLocks noGrp="1"/>
          </p:cNvGraphicFramePr>
          <p:nvPr/>
        </p:nvGraphicFramePr>
        <p:xfrm>
          <a:off x="1612900" y="2148840"/>
          <a:ext cx="8128000" cy="2560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2813955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34622832"/>
                    </a:ext>
                  </a:extLst>
                </a:gridCol>
              </a:tblGrid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Markdown Syntax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550667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Heading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561327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**Bold text** or __Bold text__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698216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Italic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dirty="0">
                          <a:effectLst/>
                        </a:rPr>
                        <a:t>*Italic text* or _Italic text_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937898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dirty="0">
                          <a:effectLst/>
                        </a:rPr>
                        <a:t>==Highlighted text==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1128886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Unordered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- First 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210059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[title](https://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www.example.com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491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67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0548A-CD54-8E8E-E9C9-986BCF30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658C-96E8-1FC9-1F3E-4F5521374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BODMAS with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BDB33-1879-6329-2931-DD2EDADFE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Operators in Python are applied much like the rules we learnt in primary school. Specifically:</a:t>
            </a:r>
          </a:p>
          <a:p>
            <a:pPr marL="1201950" lvl="2" indent="-514350">
              <a:buFont typeface="+mj-lt"/>
              <a:buAutoNum type="arabicPeriod"/>
            </a:pPr>
            <a:r>
              <a:rPr lang="en-US" sz="2800" dirty="0"/>
              <a:t>()		Brackets</a:t>
            </a:r>
          </a:p>
          <a:p>
            <a:pPr marL="1201950" lvl="2" indent="-514350">
              <a:buFont typeface="+mj-lt"/>
              <a:buAutoNum type="arabicPeriod"/>
            </a:pPr>
            <a:r>
              <a:rPr lang="en-US" sz="2800" dirty="0"/>
              <a:t>** (not ^)	Exponentiation</a:t>
            </a:r>
          </a:p>
          <a:p>
            <a:pPr marL="1201950" lvl="2" indent="-514350">
              <a:buFont typeface="+mj-lt"/>
              <a:buAutoNum type="arabicPeriod"/>
            </a:pPr>
            <a:r>
              <a:rPr lang="en-US" sz="2800" dirty="0"/>
              <a:t>*, /, //, %	Multiplication, Division, Floor Division, Modulus</a:t>
            </a:r>
          </a:p>
          <a:p>
            <a:pPr marL="1201950" lvl="2" indent="-514350">
              <a:buFont typeface="+mj-lt"/>
              <a:buAutoNum type="arabicPeriod"/>
            </a:pPr>
            <a:r>
              <a:rPr lang="en-US" sz="2800" dirty="0"/>
              <a:t>+, -		Addition, Subtraction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Complete </a:t>
            </a:r>
            <a:r>
              <a:rPr lang="en-US" b="1" dirty="0"/>
              <a:t>Exercise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27280-6B23-9B72-900C-31BF2CB3F378}"/>
              </a:ext>
            </a:extLst>
          </p:cNvPr>
          <p:cNvSpPr txBox="1"/>
          <p:nvPr/>
        </p:nvSpPr>
        <p:spPr>
          <a:xfrm>
            <a:off x="6607277" y="4551918"/>
            <a:ext cx="4350506" cy="1940957"/>
          </a:xfrm>
          <a:prstGeom prst="roundRect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Note:</a:t>
            </a:r>
          </a:p>
          <a:p>
            <a:r>
              <a:rPr lang="en-US" dirty="0">
                <a:solidFill>
                  <a:schemeClr val="accent6"/>
                </a:solidFill>
              </a:rPr>
              <a:t>Using comments and easily interpreted variable names makes code easier to read. But make sure your variable name starts with a letter and is not a reserved word within Python.</a:t>
            </a:r>
          </a:p>
        </p:txBody>
      </p:sp>
    </p:spTree>
    <p:extLst>
      <p:ext uri="{BB962C8B-B14F-4D97-AF65-F5344CB8AC3E}">
        <p14:creationId xmlns:p14="http://schemas.microsoft.com/office/powerpoint/2010/main" val="249291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7C1AF-FDD8-319C-0E09-5D660EC73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5EAD-43BC-3559-A784-A9514A43B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22662-0005-F185-E1AF-6B0BEF950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A file containing Python definitions and statements that can be imported into another script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Common modules and how they are imported:</a:t>
            </a:r>
          </a:p>
          <a:p>
            <a:pPr marL="687600" lvl="1" indent="-457200">
              <a:buBlip>
                <a:blip r:embed="rId3"/>
              </a:buBlip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1144800" lvl="2" indent="-457200">
              <a:buBlip>
                <a:blip r:embed="rId4"/>
              </a:buBlip>
            </a:pPr>
            <a:r>
              <a:rPr lang="en-US" sz="2200" dirty="0"/>
              <a:t>Manipulation of arrays</a:t>
            </a:r>
          </a:p>
          <a:p>
            <a:pPr marL="687600" lvl="1" indent="-457200">
              <a:buBlip>
                <a:blip r:embed="rId3"/>
              </a:buBlip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sz="2000" dirty="0"/>
          </a:p>
          <a:p>
            <a:pPr marL="1144800" lvl="2" indent="-457200">
              <a:buBlip>
                <a:blip r:embed="rId4"/>
              </a:buBlip>
            </a:pPr>
            <a:r>
              <a:rPr lang="en-US" sz="2200" dirty="0"/>
              <a:t>Create static, animated and interactive </a:t>
            </a:r>
            <a:r>
              <a:rPr lang="en-AU" sz="2200" dirty="0"/>
              <a:t>visualisations</a:t>
            </a:r>
          </a:p>
          <a:p>
            <a:pPr marL="687600" lvl="1" indent="-457200">
              <a:buBlip>
                <a:blip r:embed="rId3"/>
              </a:buBlip>
            </a:pPr>
            <a:r>
              <a:rPr lang="en-US" dirty="0"/>
              <a:t>from </a:t>
            </a:r>
            <a:r>
              <a:rPr lang="en-US" dirty="0" err="1"/>
              <a:t>astropy.io</a:t>
            </a:r>
            <a:r>
              <a:rPr lang="en-US" dirty="0"/>
              <a:t> import fits</a:t>
            </a:r>
          </a:p>
          <a:p>
            <a:pPr marL="1144800" lvl="2" indent="-457200">
              <a:buBlip>
                <a:blip r:embed="rId4"/>
              </a:buBlip>
            </a:pPr>
            <a:r>
              <a:rPr lang="en-US" sz="2200" dirty="0"/>
              <a:t>Contains range of tools for astronomical computations</a:t>
            </a:r>
          </a:p>
          <a:p>
            <a:pPr marL="1144800" lvl="2" indent="-457200">
              <a:buBlip>
                <a:blip r:embed="rId4"/>
              </a:buBlip>
            </a:pPr>
            <a:r>
              <a:rPr lang="en-US" sz="2200" dirty="0"/>
              <a:t>FITS (Flexible Image Transport System) is a digital file format containing multi-dimensional arrays</a:t>
            </a:r>
          </a:p>
        </p:txBody>
      </p:sp>
    </p:spTree>
    <p:extLst>
      <p:ext uri="{BB962C8B-B14F-4D97-AF65-F5344CB8AC3E}">
        <p14:creationId xmlns:p14="http://schemas.microsoft.com/office/powerpoint/2010/main" val="156062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62C8F-AFFD-D30D-27DD-0A0C6128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080C-041D-1BB7-F835-12F55319D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894A0-0BC8-FC34-6A72-A3605162E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A file of different data types:</a:t>
            </a:r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Cannot add or subtract strings with an integer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To work with the data types, you can convert them into the same type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757167-2F65-448C-56B9-F8517B87A2E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633792"/>
          <a:ext cx="8128000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553414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51271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018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No decimal 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430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Floating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With 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237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Complex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875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285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15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F97F-D421-F326-F065-5C4B5723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E605-6968-0890-491C-E14D7CFB3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Lists and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8B5CA-F4DC-8B3C-A548-9878D1C8B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Lists are a sequence of objects enclosed in [ ] and separated by commas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Arrays are an arrangement of numbers or objects formatted into rows and columns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Indexing: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Complete </a:t>
            </a:r>
            <a:r>
              <a:rPr lang="en-US" b="1" dirty="0"/>
              <a:t>Exercise 3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60B60A-C7A7-76FF-75C4-DC62E0EBAC66}"/>
              </a:ext>
            </a:extLst>
          </p:cNvPr>
          <p:cNvGrpSpPr/>
          <p:nvPr/>
        </p:nvGrpSpPr>
        <p:grpSpPr>
          <a:xfrm>
            <a:off x="962339" y="3915456"/>
            <a:ext cx="9429121" cy="2499344"/>
            <a:chOff x="1247350" y="3649146"/>
            <a:chExt cx="9429121" cy="24993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34C10C-C236-7BC2-B0A4-06713ED738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4010" r="15234"/>
            <a:stretch/>
          </p:blipFill>
          <p:spPr>
            <a:xfrm>
              <a:off x="1247350" y="4062461"/>
              <a:ext cx="4244771" cy="167271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656D31-1D85-BEF3-43CC-FF75A9E3D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649146"/>
              <a:ext cx="4580471" cy="2499344"/>
            </a:xfrm>
            <a:prstGeom prst="rect">
              <a:avLst/>
            </a:prstGeom>
          </p:spPr>
        </p:pic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2E031775-2BDE-F3D8-4322-A94FD12820F9}"/>
                </a:ext>
              </a:extLst>
            </p:cNvPr>
            <p:cNvSpPr txBox="1">
              <a:spLocks/>
            </p:cNvSpPr>
            <p:nvPr/>
          </p:nvSpPr>
          <p:spPr>
            <a:xfrm>
              <a:off x="1535217" y="5735174"/>
              <a:ext cx="3669036" cy="341632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dirty="0">
                  <a:latin typeface="+mn-lt"/>
                </a:rPr>
                <a:t>Notice that indexing starts from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064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54C697EB-31BA-594B-8371-830AA3B8DDF7}"/>
    </a:ext>
  </a:extLst>
</a:theme>
</file>

<file path=ppt/theme/theme2.xml><?xml version="1.0" encoding="utf-8"?>
<a:theme xmlns:a="http://schemas.openxmlformats.org/drawingml/2006/main" name="1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8D2F9C57-5267-5947-A8E1-1D6CBD5EA1CB}"/>
    </a:ext>
  </a:extLst>
</a:theme>
</file>

<file path=ppt/theme/theme3.xml><?xml version="1.0" encoding="utf-8"?>
<a:theme xmlns:a="http://schemas.openxmlformats.org/drawingml/2006/main" name="2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2513D8CB-3B6B-5547-A331-D7470A3DFC1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8a2230-54d9-4525-a072-aaf2ad3921af" xsi:nil="true"/>
    <lcf76f155ced4ddcb4097134ff3c332f xmlns="3e861e5c-b9b4-4f4a-a39d-d4f58c595d5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022E11B6C55F458F03297D129AC5C7" ma:contentTypeVersion="16" ma:contentTypeDescription="Create a new document." ma:contentTypeScope="" ma:versionID="c5de254797c2e30b1c1dab67e1fdd087">
  <xsd:schema xmlns:xsd="http://www.w3.org/2001/XMLSchema" xmlns:xs="http://www.w3.org/2001/XMLSchema" xmlns:p="http://schemas.microsoft.com/office/2006/metadata/properties" xmlns:ns2="3e861e5c-b9b4-4f4a-a39d-d4f58c595d50" xmlns:ns3="3d8a2230-54d9-4525-a072-aaf2ad3921af" targetNamespace="http://schemas.microsoft.com/office/2006/metadata/properties" ma:root="true" ma:fieldsID="40d7e893f6517adbc7421dea239a8bfb" ns2:_="" ns3:_="">
    <xsd:import namespace="3e861e5c-b9b4-4f4a-a39d-d4f58c595d50"/>
    <xsd:import namespace="3d8a2230-54d9-4525-a072-aaf2ad392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61e5c-b9b4-4f4a-a39d-d4f58c595d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a2230-54d9-4525-a072-aaf2ad3921a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9d5615-4cdb-4eba-9af8-b29b99cf6c5f}" ma:internalName="TaxCatchAll" ma:showField="CatchAllData" ma:web="3d8a2230-54d9-4525-a072-aaf2ad3921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F36D4B-89AA-43AA-A4F8-41021B5395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CE31FE-9010-4DD9-ACBF-74A5EE27FA83}">
  <ds:schemaRefs>
    <ds:schemaRef ds:uri="http://schemas.microsoft.com/office/2006/metadata/properties"/>
    <ds:schemaRef ds:uri="http://schemas.microsoft.com/office/infopath/2007/PartnerControls"/>
    <ds:schemaRef ds:uri="3d8a2230-54d9-4525-a072-aaf2ad3921af"/>
    <ds:schemaRef ds:uri="3e861e5c-b9b4-4f4a-a39d-d4f58c595d50"/>
  </ds:schemaRefs>
</ds:datastoreItem>
</file>

<file path=customXml/itemProps3.xml><?xml version="1.0" encoding="utf-8"?>
<ds:datastoreItem xmlns:ds="http://schemas.openxmlformats.org/officeDocument/2006/customXml" ds:itemID="{3CEC6E53-DE09-48B9-92A5-3EADF1FB28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861e5c-b9b4-4f4a-a39d-d4f58c595d50"/>
    <ds:schemaRef ds:uri="3d8a2230-54d9-4525-a072-aaf2ad392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3065</TotalTime>
  <Words>343</Words>
  <Application>Microsoft Macintosh PowerPoint</Application>
  <PresentationFormat>Widescreen</PresentationFormat>
  <Paragraphs>73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Clancy</vt:lpstr>
      <vt:lpstr>Roboto</vt:lpstr>
      <vt:lpstr>Office Theme</vt:lpstr>
      <vt:lpstr>1_Custom Design</vt:lpstr>
      <vt:lpstr>2_Custom Design</vt:lpstr>
      <vt:lpstr>PowerPoint Presentation</vt:lpstr>
      <vt:lpstr>Markdown</vt:lpstr>
      <vt:lpstr>BODMAS with Python</vt:lpstr>
      <vt:lpstr>Modules</vt:lpstr>
      <vt:lpstr>Data Types</vt:lpstr>
      <vt:lpstr>Lists and Arrays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Ding</dc:creator>
  <cp:lastModifiedBy>Michelle Ding</cp:lastModifiedBy>
  <cp:revision>13</cp:revision>
  <dcterms:created xsi:type="dcterms:W3CDTF">2024-09-05T14:10:30Z</dcterms:created>
  <dcterms:modified xsi:type="dcterms:W3CDTF">2026-09-23T05:57:41Z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0x010100F4022E11B6C55F458F03297D129AC5C7</vt:lpwstr>
  </property>
</Properties>
</file>