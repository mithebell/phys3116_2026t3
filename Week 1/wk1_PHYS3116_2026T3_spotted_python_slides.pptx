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9" r:id="rId5"/>
    <p:sldMasterId id="2147483681" r:id="rId6"/>
  </p:sldMasterIdLst>
  <p:notesMasterIdLst>
    <p:notesMasterId r:id="rId22"/>
  </p:notesMasterIdLst>
  <p:handoutMasterIdLst>
    <p:handoutMasterId r:id="rId23"/>
  </p:handoutMasterIdLst>
  <p:sldIdLst>
    <p:sldId id="258" r:id="rId7"/>
    <p:sldId id="288" r:id="rId8"/>
    <p:sldId id="305" r:id="rId9"/>
    <p:sldId id="306" r:id="rId10"/>
    <p:sldId id="303" r:id="rId11"/>
    <p:sldId id="304" r:id="rId12"/>
    <p:sldId id="289" r:id="rId13"/>
    <p:sldId id="290" r:id="rId14"/>
    <p:sldId id="291" r:id="rId15"/>
    <p:sldId id="292" r:id="rId16"/>
    <p:sldId id="307" r:id="rId17"/>
    <p:sldId id="295" r:id="rId18"/>
    <p:sldId id="296" r:id="rId19"/>
    <p:sldId id="297" r:id="rId20"/>
    <p:sldId id="29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65" autoAdjust="0"/>
    <p:restoredTop sz="86290" autoAdjust="0"/>
  </p:normalViewPr>
  <p:slideViewPr>
    <p:cSldViewPr snapToGrid="0" snapToObjects="1">
      <p:cViewPr varScale="1">
        <p:scale>
          <a:sx n="190" d="100"/>
          <a:sy n="190" d="100"/>
        </p:scale>
        <p:origin x="2328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598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425C8D-C5AF-9F4F-9E24-5C2DC72753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21E46C-AA4E-214A-A45C-A09C6AE0B0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442EA-0DF9-924B-8435-17D563E57AC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AAFBB1-2BB3-DA46-A158-0722D5A310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D7EA5-B09A-264C-ABF4-E27232AD2E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321C2-EC5F-E04A-AFC0-A1F418A55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381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955B6-3D2D-2944-B7F4-FE074C92CB41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6ACD0-BE8A-3D4B-8E89-B0E6ACFF59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94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8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976E31-1EA1-274A-A1AD-5915E61D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UNSW Sydney Logo">
            <a:extLst>
              <a:ext uri="{FF2B5EF4-FFF2-40B4-BE49-F238E27FC236}">
                <a16:creationId xmlns:a16="http://schemas.microsoft.com/office/drawing/2014/main" id="{F0BF8575-4955-BC4A-80DE-4BF637C59C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593240" y="522000"/>
            <a:ext cx="1188000" cy="1240241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196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BC9DD3-2081-9D4A-BCDD-FD7DDC635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6367954-2926-486A-95D7-D57A05D0A1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67151" y="5261593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385383" y="-277157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28400" y="0"/>
            <a:ext cx="6663600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87B7DB84-DBF6-43D5-A225-64A86E32A4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2071" y="5320585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362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D9F833-BA4F-E348-9506-0D3D621C75CA}"/>
              </a:ext>
            </a:extLst>
          </p:cNvPr>
          <p:cNvSpPr/>
          <p:nvPr userDrawn="1"/>
        </p:nvSpPr>
        <p:spPr>
          <a:xfrm>
            <a:off x="6740525" y="1"/>
            <a:ext cx="5453294" cy="501575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FF675AE0-8F62-485C-BF3D-6598839BAD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2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E16058-FC97-C34C-A94D-1AEBA1319CEF}"/>
              </a:ext>
            </a:extLst>
          </p:cNvPr>
          <p:cNvSpPr/>
          <p:nvPr userDrawn="1"/>
        </p:nvSpPr>
        <p:spPr>
          <a:xfrm>
            <a:off x="1" y="0"/>
            <a:ext cx="12191999" cy="5000624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B927EE41-A83A-A9AD-F2C3-0827F1440F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3024056">
            <a:off x="3583339" y="-257331"/>
            <a:ext cx="6243723" cy="7372662"/>
          </a:xfrm>
          <a:prstGeom prst="rect">
            <a:avLst/>
          </a:prstGeom>
        </p:spPr>
      </p:pic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21B83991-6CB1-46A6-A70E-59562F1A45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85" y="3515321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58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03B341F3-514D-F42F-D0AA-C75B36DDF5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59043" y="1428646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icon to add pictur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77E20C77-3D0A-4A35-878B-F3D37CBE052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04630" y="526455"/>
            <a:ext cx="1188000" cy="1240241"/>
          </a:xfrm>
          <a:prstGeom prst="rect">
            <a:avLst/>
          </a:prstGeom>
        </p:spPr>
      </p:pic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3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E4149BEC-B55D-3611-DBCF-0E9A57DC67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5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0014F36-07A5-3AE9-AB47-224C3C934A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93600" y="5419759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4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064B1A81-90D8-9D68-62EB-C2915DE66A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0400" y="275357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00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817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220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 descr="Click to edit body text styles on the left side of slide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 descr="Click to edit body text styles on the right side of slide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4800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 dirty="0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294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3AC5B-4BEF-3F81-2082-0A388541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</a:blip>
          <a:srcRect l="30378"/>
          <a:stretch/>
        </p:blipFill>
        <p:spPr>
          <a:xfrm rot="10800000">
            <a:off x="8269200" y="-1"/>
            <a:ext cx="3922800" cy="6069303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754870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1557173" y="-82749"/>
            <a:ext cx="5957925" cy="6417766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42125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icon to add pictur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49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5549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4918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589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216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6323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20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7384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17491040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253302" y="-398755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7000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0504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293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5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838487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1" y="0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82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3813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">
            <a:extLst>
              <a:ext uri="{FF2B5EF4-FFF2-40B4-BE49-F238E27FC236}">
                <a16:creationId xmlns:a16="http://schemas.microsoft.com/office/drawing/2014/main" id="{70841D79-9C5E-1449-B506-564E0213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Title goes here</a:t>
            </a:r>
            <a:endParaRPr lang="en-US" dirty="0"/>
          </a:p>
        </p:txBody>
      </p:sp>
      <p:sp>
        <p:nvSpPr>
          <p:cNvPr id="3" name="Text Placeholder 2" descr="Click to add secondary details&#10;">
            <a:extLst>
              <a:ext uri="{FF2B5EF4-FFF2-40B4-BE49-F238E27FC236}">
                <a16:creationId xmlns:a16="http://schemas.microsoft.com/office/drawing/2014/main" id="{4A50093E-B476-CE4A-816B-226988C60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392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2" r:id="rId3"/>
    <p:sldLayoutId id="2147483651" r:id="rId4"/>
    <p:sldLayoutId id="2147483653" r:id="rId5"/>
    <p:sldLayoutId id="2147483650" r:id="rId6"/>
    <p:sldLayoutId id="2147483746" r:id="rId7"/>
    <p:sldLayoutId id="2147483747" r:id="rId8"/>
    <p:sldLayoutId id="2147483748" r:id="rId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 typeface="Calibri" panose="020F0502020204030204" pitchFamily="34" charset="0"/>
        <a:buChar char="﻿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body text styles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090FF-0D07-44EF-BE91-92BA9AB775B9}" type="datetimeFigureOut">
              <a:rPr lang="en-AU" smtClean="0"/>
              <a:t>18/9/2026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75D7-070A-4959-9224-FB5E66F2B1B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A2B4-C8AB-4F09-B260-BA7609DF0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706290" y="372291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UNSW Sydney Logo">
            <a:extLst>
              <a:ext uri="{FF2B5EF4-FFF2-40B4-BE49-F238E27FC236}">
                <a16:creationId xmlns:a16="http://schemas.microsoft.com/office/drawing/2014/main" id="{84EF7EA2-D124-438C-BF7A-68B3D68783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8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74" r:id="rId3"/>
    <p:sldLayoutId id="2147483675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18/9/2026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FD9B66-E5D8-458F-B15F-FCAE5CAD7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353696" y="3019698"/>
            <a:ext cx="6858002" cy="818606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NSW Sydney Logo">
            <a:extLst>
              <a:ext uri="{FF2B5EF4-FFF2-40B4-BE49-F238E27FC236}">
                <a16:creationId xmlns:a16="http://schemas.microsoft.com/office/drawing/2014/main" id="{725B2B7F-7BA2-426B-BEF7-9C26ECD9179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5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5" r:id="rId2"/>
    <p:sldLayoutId id="2147483686" r:id="rId3"/>
    <p:sldLayoutId id="2147483687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hyperlink" Target="mailto:michelle.ding@unsw.edu.au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4.png"/><Relationship Id="rId5" Type="http://schemas.openxmlformats.org/officeDocument/2006/relationships/hyperlink" Target="https://code.visualstudio.com/docs/sourcecontrol/github" TargetMode="External"/><Relationship Id="rId4" Type="http://schemas.openxmlformats.org/officeDocument/2006/relationships/hyperlink" Target="https://adacs-australia.github.io/2023-03-20-Coding-Best-Practices-Workshop/GitHub/index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6" Type="http://schemas.openxmlformats.org/officeDocument/2006/relationships/hyperlink" Target="https://www.anaconda.com/docs/getting-started/installation" TargetMode="External"/><Relationship Id="rId5" Type="http://schemas.openxmlformats.org/officeDocument/2006/relationships/hyperlink" Target="https://code.visualstudio.com/" TargetMode="External"/><Relationship Id="rId4" Type="http://schemas.openxmlformats.org/officeDocument/2006/relationships/hyperlink" Target="https://desktop.github.com/download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downguide.org/cheat-sheet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86CFD-3D6C-4B9E-0F74-0737AFF6E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68785"/>
            <a:ext cx="10017457" cy="252043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Spotted Python</a:t>
            </a:r>
            <a:br>
              <a:rPr lang="en-US" b="1" dirty="0">
                <a:solidFill>
                  <a:schemeClr val="accent6"/>
                </a:solidFill>
              </a:rPr>
            </a:br>
            <a:r>
              <a:rPr lang="en-US" b="1" dirty="0">
                <a:solidFill>
                  <a:schemeClr val="accent5"/>
                </a:solidFill>
              </a:rPr>
              <a:t>Week 1 Tutorial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C31E8A-07CC-939B-F7AC-6A4366E11BF6}"/>
              </a:ext>
            </a:extLst>
          </p:cNvPr>
          <p:cNvSpPr txBox="1">
            <a:spLocks/>
          </p:cNvSpPr>
          <p:nvPr/>
        </p:nvSpPr>
        <p:spPr>
          <a:xfrm>
            <a:off x="10017457" y="5657671"/>
            <a:ext cx="2174543" cy="120032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Calibri" panose="020F0502020204030204" pitchFamily="34" charset="0"/>
              <a:buChar char="﻿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Blip>
                <a:blip r:embed="rId2"/>
              </a:buBlip>
            </a:pPr>
            <a:r>
              <a:rPr lang="en-US" dirty="0"/>
              <a:t>Course Reminders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GitHub Setup</a:t>
            </a:r>
          </a:p>
          <a:p>
            <a:pPr marL="285750" indent="-285750">
              <a:buBlip>
                <a:blip r:embed="rId2"/>
              </a:buBlip>
            </a:pPr>
            <a:r>
              <a:rPr lang="en-US" dirty="0"/>
              <a:t>Markdown</a:t>
            </a:r>
          </a:p>
        </p:txBody>
      </p:sp>
    </p:spTree>
    <p:extLst>
      <p:ext uri="{BB962C8B-B14F-4D97-AF65-F5344CB8AC3E}">
        <p14:creationId xmlns:p14="http://schemas.microsoft.com/office/powerpoint/2010/main" val="11104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D91B-DBD7-6744-EB06-D4527A051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Welcome Spotted Pythons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44F98-D0DB-9B97-4687-41471920D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9375"/>
            <a:ext cx="6469037" cy="4879249"/>
          </a:xfrm>
        </p:spPr>
        <p:txBody>
          <a:bodyPr lIns="360000" tIns="180000" rIns="360000" bIns="180000" anchor="ctr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Coding is an important skill for astrophysics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This stream is designed to learn coding at a slower pace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All examples and materials are the same across the 2 streams, but approached in different ways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Finn will be the tutor for Morelia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F7A5F6-4106-47F6-19A4-226CCEB201CF}"/>
              </a:ext>
            </a:extLst>
          </p:cNvPr>
          <p:cNvGrpSpPr/>
          <p:nvPr/>
        </p:nvGrpSpPr>
        <p:grpSpPr>
          <a:xfrm>
            <a:off x="6469037" y="1451229"/>
            <a:ext cx="4410501" cy="3955539"/>
            <a:chOff x="6578219" y="2067152"/>
            <a:chExt cx="4410501" cy="395553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15C81A3-F860-C7F3-F0C3-E1A8D003FE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9413" y="2067152"/>
              <a:ext cx="3728111" cy="2796083"/>
            </a:xfrm>
            <a:prstGeom prst="rect">
              <a:avLst/>
            </a:prstGeom>
          </p:spPr>
        </p:pic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34F9DB35-D83F-B129-676C-78B34F07ED4A}"/>
                </a:ext>
              </a:extLst>
            </p:cNvPr>
            <p:cNvSpPr txBox="1">
              <a:spLocks/>
            </p:cNvSpPr>
            <p:nvPr/>
          </p:nvSpPr>
          <p:spPr>
            <a:xfrm>
              <a:off x="6578219" y="4874194"/>
              <a:ext cx="4410501" cy="114849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 am a small friendly snake!</a:t>
              </a:r>
            </a:p>
            <a:p>
              <a:pPr algn="ctr"/>
              <a:r>
                <a:rPr lang="en-US" sz="1800" dirty="0">
                  <a:solidFill>
                    <a:schemeClr val="accent6"/>
                  </a:solidFill>
                  <a:latin typeface="+mn-lt"/>
                </a:rPr>
                <a:t>If you have any questions, ask in tutorials, on the forum or via email</a:t>
              </a:r>
            </a:p>
            <a:p>
              <a:pPr algn="ctr"/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(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michelle.ding@unsw.edu.au</a:t>
              </a:r>
              <a:r>
                <a:rPr lang="en-US" sz="1800" dirty="0">
                  <a:solidFill>
                    <a:schemeClr val="accent5"/>
                  </a:solidFill>
                  <a:latin typeface="+mn-lt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93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1D093-7A73-C8B7-EE61-0BAFE8FCE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34CB-C3B0-9C3E-8482-36B9E1E1F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Welcome Spotted Pythons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9553E-8BFC-D51D-BA3B-3F8098DC4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9375"/>
            <a:ext cx="11353800" cy="4879249"/>
          </a:xfrm>
        </p:spPr>
        <p:txBody>
          <a:bodyPr lIns="360000" tIns="180000" rIns="360000" bIns="180000" anchor="ctr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Coding is an important skill for astrophysics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This stream is designed to learn coding at a slower pace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All examples and materials are the same across the 2 streams, but approached in different ways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Finn will be the tutor for Morelia</a:t>
            </a:r>
          </a:p>
        </p:txBody>
      </p:sp>
    </p:spTree>
    <p:extLst>
      <p:ext uri="{BB962C8B-B14F-4D97-AF65-F5344CB8AC3E}">
        <p14:creationId xmlns:p14="http://schemas.microsoft.com/office/powerpoint/2010/main" val="2039195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5F3D2-AB4A-81B1-310F-2D2FD260F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F44-4559-BFC7-AD76-914027A7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4928-E63F-8B43-0D7E-4914FFE0A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3rd year PhD student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Wanted to be a singer before I was 11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Decided to be an astronomer after I watched a documentary about Black Holes</a:t>
            </a:r>
          </a:p>
        </p:txBody>
      </p:sp>
    </p:spTree>
    <p:extLst>
      <p:ext uri="{BB962C8B-B14F-4D97-AF65-F5344CB8AC3E}">
        <p14:creationId xmlns:p14="http://schemas.microsoft.com/office/powerpoint/2010/main" val="590247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3736-FCB3-0010-E0B1-1057DC2E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7CE5-8874-05A7-160C-3C28ED907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Michelle (she/her)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8C801-8587-35ED-E13A-C08ECA009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At university I jumped around multiple research groups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Undergrad research – pipeline to distinguish between good and bad data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Honours research – strong lensing in group environments</a:t>
            </a:r>
          </a:p>
          <a:p>
            <a:pPr marL="687600" lvl="1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PhD research – PhD structures in edge-on galaxies</a:t>
            </a:r>
          </a:p>
          <a:p>
            <a:pPr marL="457200" indent="-457200">
              <a:lnSpc>
                <a:spcPct val="120000"/>
              </a:lnSpc>
              <a:buBlip>
                <a:blip r:embed="rId3"/>
              </a:buBlip>
            </a:pPr>
            <a:r>
              <a:rPr lang="en-AU" dirty="0"/>
              <a:t>I love teaching, singing, dancing, travelling, going to markets, and seeking out good vegetarian food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3E28A36-6479-66BC-A8B7-32CFB08EAE1A}"/>
              </a:ext>
            </a:extLst>
          </p:cNvPr>
          <p:cNvGrpSpPr/>
          <p:nvPr/>
        </p:nvGrpSpPr>
        <p:grpSpPr>
          <a:xfrm>
            <a:off x="1464413" y="4382505"/>
            <a:ext cx="8424969" cy="2304079"/>
            <a:chOff x="975273" y="4317839"/>
            <a:chExt cx="8424969" cy="2304079"/>
          </a:xfrm>
        </p:grpSpPr>
        <p:pic>
          <p:nvPicPr>
            <p:cNvPr id="5" name="Picture 4" descr="A young child doing a split&#10;&#10;AI-generated content may be incorrect.">
              <a:extLst>
                <a:ext uri="{FF2B5EF4-FFF2-40B4-BE49-F238E27FC236}">
                  <a16:creationId xmlns:a16="http://schemas.microsoft.com/office/drawing/2014/main" id="{F3F40D9B-72EF-3837-77C2-EE2387BDB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4623" y="4317839"/>
              <a:ext cx="3072105" cy="2304079"/>
            </a:xfrm>
            <a:prstGeom prst="rect">
              <a:avLst/>
            </a:prstGeom>
          </p:spPr>
        </p:pic>
        <p:pic>
          <p:nvPicPr>
            <p:cNvPr id="7" name="Picture 6" descr="A young child singing into a microphone&#10;&#10;AI-generated content may be incorrect.">
              <a:extLst>
                <a:ext uri="{FF2B5EF4-FFF2-40B4-BE49-F238E27FC236}">
                  <a16:creationId xmlns:a16="http://schemas.microsoft.com/office/drawing/2014/main" id="{864534DF-F2B7-C42F-FF8C-75C3937CF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5273" y="4317839"/>
              <a:ext cx="3150036" cy="2304079"/>
            </a:xfrm>
            <a:prstGeom prst="rect">
              <a:avLst/>
            </a:prstGeom>
          </p:spPr>
        </p:pic>
        <p:pic>
          <p:nvPicPr>
            <p:cNvPr id="9" name="Picture 8" descr="A young child wearing a graduation cap and gown&#10;&#10;AI-generated content may be incorrect.">
              <a:extLst>
                <a:ext uri="{FF2B5EF4-FFF2-40B4-BE49-F238E27FC236}">
                  <a16:creationId xmlns:a16="http://schemas.microsoft.com/office/drawing/2014/main" id="{5BC65EE7-694A-A528-FA1E-1AB66ADDE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96042" y="4317839"/>
              <a:ext cx="1704200" cy="23040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057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54519-031C-ECFF-C188-F49A14B2B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1ADE8-5CA7-C811-D7AF-BE6949DC0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I want to hear from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B7CDF-0098-7BCC-6ECB-E1830C8D5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972912"/>
            <a:ext cx="11353799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What is your name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What part of astronomy are you most excited about to learn/most interested in?</a:t>
            </a:r>
          </a:p>
          <a:p>
            <a:pPr marL="457200" indent="-457200">
              <a:lnSpc>
                <a:spcPct val="120000"/>
              </a:lnSpc>
              <a:buBlip>
                <a:blip r:embed="rId2"/>
              </a:buBlip>
            </a:pPr>
            <a:r>
              <a:rPr lang="en-AU" dirty="0"/>
              <a:t>Please give me feedback. I want you to govern what these tutorials are about!</a:t>
            </a:r>
          </a:p>
        </p:txBody>
      </p:sp>
    </p:spTree>
    <p:extLst>
      <p:ext uri="{BB962C8B-B14F-4D97-AF65-F5344CB8AC3E}">
        <p14:creationId xmlns:p14="http://schemas.microsoft.com/office/powerpoint/2010/main" val="3353981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57EEA-962F-0472-A614-6FD1EC12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692FE-257C-24F6-9133-E1CAE58DB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46155-5FD3-3A79-D8DE-1F914D196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The computational assignment involves collaboration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Each team will have a 5–10 minutes team meeting each week.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need to attend at least 3 meetings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Group code must be developed on GitHub.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You must commit lines of code and documentation for at least 3 weeks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Commits must contain meaningful analysis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may ask you to explain your code to us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Responsible AI use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AI references can be wrong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Everything you write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All materials covered in the tutorials can be examinable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We can tell AI-generated code apart from originally written code</a:t>
            </a:r>
          </a:p>
        </p:txBody>
      </p:sp>
    </p:spTree>
    <p:extLst>
      <p:ext uri="{BB962C8B-B14F-4D97-AF65-F5344CB8AC3E}">
        <p14:creationId xmlns:p14="http://schemas.microsoft.com/office/powerpoint/2010/main" val="402151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30146-4314-A8F4-DA3E-BF67583FB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7E7DE-C5C6-AF39-4357-82100C073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Why use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50D67-5E16-79F5-F813-130A26E5B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Backup of code to reduce the chances of you losing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Version control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Automation tools for building and testing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Store and present documentation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Recognition for your work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If you are confused by this GitHub tutorial, refer to the following links (there are different ways to setup GitHub):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https://adacs-australia.github.io/2023-03-20-Coding-Best-Practices-Workshop/GitHub/index.html</a:t>
            </a:r>
            <a:endParaRPr lang="en-AU" dirty="0">
              <a:solidFill>
                <a:schemeClr val="accent5"/>
              </a:solidFill>
            </a:endParaRP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https://code.visualstudio.com/docs/sourcecontrol/github</a:t>
            </a:r>
            <a:endParaRPr lang="en-AU" dirty="0">
              <a:solidFill>
                <a:schemeClr val="accent5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BCFC4-55FC-2183-31A5-90421F2D04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518" y="1755058"/>
            <a:ext cx="1975803" cy="1975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43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73F4-D2A9-A107-847A-96C2D3ED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46793-87E1-CBA5-90FC-DA205283C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Python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D400B-4AE4-461D-672F-2E940E221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Sign up for a free GitHub account: </a:t>
            </a:r>
            <a:r>
              <a:rPr lang="en-AU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</a:t>
            </a:r>
            <a:endParaRPr lang="en-AU" dirty="0">
              <a:solidFill>
                <a:schemeClr val="accent5"/>
              </a:solidFill>
            </a:endParaRP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GitHub Desktop: </a:t>
            </a:r>
            <a:r>
              <a:rPr lang="en-AU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https://desktop.github.com/download/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VS Code: </a:t>
            </a:r>
            <a:r>
              <a:rPr lang="en-AU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</a:t>
            </a:r>
            <a:r>
              <a:rPr lang="en-AU" dirty="0">
                <a:solidFill>
                  <a:schemeClr val="accent5"/>
                </a:solidFill>
              </a:rPr>
              <a:t> 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Install Miniconda: </a:t>
            </a:r>
            <a:r>
              <a:rPr lang="en-AU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https://www.anaconda.com/docs/getting-started/installation</a:t>
            </a:r>
            <a:endParaRPr lang="en-AU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446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FC5C-7D8F-24B7-EAD9-CCCC38F1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919C-F597-3A55-0251-72B1EBDA1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Making a new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8F328-C1E5-D793-2646-F9138213B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6985747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Select File </a:t>
            </a:r>
            <a:r>
              <a:rPr lang="en-AU" dirty="0">
                <a:sym typeface="Wingdings" pitchFamily="2" charset="2"/>
              </a:rPr>
              <a:t> New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Enter the name, location you want to save the repository, a description, and tick “Initialize this repository with a README”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Check that the file now exists locally on your laptop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Publish the repository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4077BD-518A-3DD4-00C7-C2DA908E8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87" t="3013" r="2202" b="2224"/>
          <a:stretch>
            <a:fillRect/>
          </a:stretch>
        </p:blipFill>
        <p:spPr>
          <a:xfrm>
            <a:off x="6985747" y="1161173"/>
            <a:ext cx="4065494" cy="50403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75D8BF-ACDD-83C8-4C71-2B7E135A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04" t="4260" r="1617" b="2924"/>
          <a:stretch>
            <a:fillRect/>
          </a:stretch>
        </p:blipFill>
        <p:spPr>
          <a:xfrm>
            <a:off x="4269442" y="3995943"/>
            <a:ext cx="2716305" cy="220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64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C033A-0FEA-7F6C-5EC8-6AA173AFF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E9E0-5F97-83EF-0165-65BA4EC0F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Cloning a new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DAA17-B8B6-59B5-ECFA-78C20515A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6985747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Select File </a:t>
            </a:r>
            <a:r>
              <a:rPr lang="en-AU" dirty="0">
                <a:sym typeface="Wingdings" pitchFamily="2" charset="2"/>
              </a:rPr>
              <a:t> New Repository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Enter the name, location you want to save the repository, a description, and tick “Initialize this repository with a README”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>
                <a:sym typeface="Wingdings" pitchFamily="2" charset="2"/>
              </a:rPr>
              <a:t>Check that the file now exists locally on your laptop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AE3CA3-F64E-CCEE-0EDA-DB0302155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87" t="3013" r="2202" b="2224"/>
          <a:stretch>
            <a:fillRect/>
          </a:stretch>
        </p:blipFill>
        <p:spPr>
          <a:xfrm>
            <a:off x="6985747" y="1161173"/>
            <a:ext cx="4065494" cy="504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449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904CB-DFEA-A8A1-CC28-6E8C86F9B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95744-42CF-2E0F-7457-265277295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346CF-A41F-4B9D-DBD1-0B2C2C7DF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687600" lvl="1" indent="-457200">
              <a:lnSpc>
                <a:spcPct val="100000"/>
              </a:lnSpc>
              <a:buFont typeface="+mj-lt"/>
              <a:buAutoNum type="arabicPeriod" startAt="3"/>
            </a:pPr>
            <a:r>
              <a:rPr lang="en-AU" dirty="0"/>
              <a:t>Check that you have your repository on your profile</a:t>
            </a:r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3"/>
            </a:pPr>
            <a:endParaRPr lang="en-AU" dirty="0"/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3"/>
            </a:pPr>
            <a:endParaRPr lang="en-AU" dirty="0"/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3"/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AU" dirty="0"/>
              <a:t>Return to VS Code, and type </a:t>
            </a:r>
            <a:r>
              <a:rPr lang="en-AU" b="1" dirty="0">
                <a:solidFill>
                  <a:schemeClr val="accent3"/>
                </a:solidFill>
              </a:rPr>
              <a:t>&gt;Git: Clone </a:t>
            </a:r>
            <a:r>
              <a:rPr lang="en-AU" dirty="0"/>
              <a:t>in the Command Palette</a:t>
            </a:r>
            <a:br>
              <a:rPr lang="en-AU" dirty="0"/>
            </a:br>
            <a:br>
              <a:rPr lang="en-AU" dirty="0"/>
            </a:br>
            <a:endParaRPr lang="en-AU" dirty="0">
              <a:solidFill>
                <a:schemeClr val="accent5"/>
              </a:solidFill>
            </a:endParaRPr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AU" dirty="0"/>
              <a:t>Choose Clone from GitHub, and select the repository you want to clone</a:t>
            </a:r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AU" dirty="0"/>
              <a:t>Make a new folder where you want to keep your code and select it as the repository destination</a:t>
            </a:r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AU" dirty="0"/>
              <a:t>Go back to the Command Palette and type </a:t>
            </a:r>
            <a:r>
              <a:rPr lang="en-AU" b="1" dirty="0">
                <a:solidFill>
                  <a:schemeClr val="accent3"/>
                </a:solidFill>
              </a:rPr>
              <a:t>&gt;Git: Initialize Repository</a:t>
            </a:r>
          </a:p>
          <a:p>
            <a:pPr marL="687600" lvl="1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AU" dirty="0"/>
              <a:t>You can now start committing to GitHub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58A7A6-573A-A902-D7CB-C587AAD26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63" y="1523050"/>
            <a:ext cx="7790873" cy="16759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02DE4A-4A04-90C0-F6F3-859989B438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682" y="3719634"/>
            <a:ext cx="6300635" cy="67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955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9A679-5532-6D09-8080-E2117D7FD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EBC41-EEE2-D68E-9D3A-ABCCD3EA9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161C4-BEC0-D094-E4B9-D27F95554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Staging and committing code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Go to Source Control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Add the changes you want to commit, and press commit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endParaRPr lang="en-AU" dirty="0"/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endParaRPr lang="en-AU" dirty="0"/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endParaRPr lang="en-AU" dirty="0"/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endParaRPr lang="en-AU" dirty="0"/>
          </a:p>
          <a:p>
            <a:pPr lvl="1" indent="0">
              <a:lnSpc>
                <a:spcPct val="100000"/>
              </a:lnSpc>
              <a:buNone/>
            </a:pPr>
            <a:endParaRPr lang="en-AU" dirty="0"/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Write a short description of what you are committing and press the tick in the upper right corner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endParaRPr lang="en-AU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067B10-C3AB-D24A-52E9-23B8DFAEB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4041" y="2609457"/>
            <a:ext cx="4563918" cy="1833049"/>
          </a:xfrm>
          <a:prstGeom prst="rect">
            <a:avLst/>
          </a:prstGeom>
        </p:spPr>
      </p:pic>
      <p:pic>
        <p:nvPicPr>
          <p:cNvPr id="11" name="Picture 10" descr="A blue rectangular object with a black border&#10;&#10;AI-generated content may be incorrect.">
            <a:extLst>
              <a:ext uri="{FF2B5EF4-FFF2-40B4-BE49-F238E27FC236}">
                <a16:creationId xmlns:a16="http://schemas.microsoft.com/office/drawing/2014/main" id="{E3396CF0-44D5-E266-995E-2DF2222CD7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0000"/>
          <a:stretch>
            <a:fillRect/>
          </a:stretch>
        </p:blipFill>
        <p:spPr>
          <a:xfrm>
            <a:off x="1193800" y="5671525"/>
            <a:ext cx="9804400" cy="81505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98C01C7C-A449-F2E5-F80C-EC746B12ADDE}"/>
              </a:ext>
            </a:extLst>
          </p:cNvPr>
          <p:cNvSpPr>
            <a:spLocks noChangeAspect="1"/>
          </p:cNvSpPr>
          <p:nvPr/>
        </p:nvSpPr>
        <p:spPr>
          <a:xfrm>
            <a:off x="10300609" y="5613132"/>
            <a:ext cx="360000" cy="360000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0904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5AD80-0EC2-B462-581C-FD3E64022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6FE66-11BC-5A3D-6ED3-9BE451603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Setting up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25CE5-C54F-1180-41F7-5035C4D8D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Staging and committing code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Sync your changes and check you have your new code/files on GitHub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Adding collaborators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Go to the settings of your repository, and select Collaborators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Invite your group mates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Clone the repository for the other collaborators</a:t>
            </a:r>
          </a:p>
          <a:p>
            <a:pPr marL="457200" indent="-457200">
              <a:lnSpc>
                <a:spcPct val="100000"/>
              </a:lnSpc>
              <a:buBlip>
                <a:blip r:embed="rId2"/>
              </a:buBlip>
            </a:pPr>
            <a:r>
              <a:rPr lang="en-AU" dirty="0"/>
              <a:t>Be careful about changing the code at the same time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I recommend communicating when code has been changed</a:t>
            </a:r>
          </a:p>
          <a:p>
            <a:pPr marL="687600" lvl="1" indent="-457200">
              <a:lnSpc>
                <a:spcPct val="100000"/>
              </a:lnSpc>
              <a:buBlip>
                <a:blip r:embed="rId3"/>
              </a:buBlip>
            </a:pPr>
            <a:r>
              <a:rPr lang="en-AU" dirty="0"/>
              <a:t>If you are advanced, use branches</a:t>
            </a:r>
          </a:p>
        </p:txBody>
      </p:sp>
    </p:spTree>
    <p:extLst>
      <p:ext uri="{BB962C8B-B14F-4D97-AF65-F5344CB8AC3E}">
        <p14:creationId xmlns:p14="http://schemas.microsoft.com/office/powerpoint/2010/main" val="2560738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B4C39-3032-3BD6-EA9C-3DB93C05A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4FCE-A895-B016-21F2-969BCAF17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972913"/>
          </a:xfrm>
        </p:spPr>
        <p:txBody>
          <a:bodyPr wrap="square" lIns="360000" tIns="180000" rIns="360000" bIns="180000">
            <a:spAutoFit/>
          </a:bodyPr>
          <a:lstStyle/>
          <a:p>
            <a:r>
              <a:rPr lang="en-AU" b="1" dirty="0">
                <a:solidFill>
                  <a:schemeClr val="accent6"/>
                </a:solidFill>
              </a:rPr>
              <a:t>Markdown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25E2B-4579-EC86-175C-20EBDB74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2913"/>
            <a:ext cx="11353800" cy="5885087"/>
          </a:xfrm>
        </p:spPr>
        <p:txBody>
          <a:bodyPr lIns="360000" tIns="180000" rIns="360000" bIns="180000">
            <a:normAutofit/>
          </a:bodyPr>
          <a:lstStyle/>
          <a:p>
            <a:pPr marL="457200" indent="-457200">
              <a:buBlip>
                <a:blip r:embed="rId2"/>
              </a:buBlip>
            </a:pPr>
            <a:r>
              <a:rPr lang="en-US" dirty="0"/>
              <a:t>Text-to-HTML conversion tool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Can be used in Jupyter Notebooks for annotation of code</a:t>
            </a:r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endParaRPr lang="en-US" dirty="0"/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Allows mathematical expressions in LaTeX-style syntax</a:t>
            </a:r>
          </a:p>
          <a:p>
            <a:pPr marL="457200" indent="-457200">
              <a:buBlip>
                <a:blip r:embed="rId2"/>
              </a:buBlip>
            </a:pPr>
            <a:r>
              <a:rPr lang="en-US" dirty="0"/>
              <a:t>Cheat sheet: </a:t>
            </a:r>
            <a:r>
              <a:rPr lang="en-US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https://www.markdownguide.org/cheat-sheet/</a:t>
            </a:r>
            <a:endParaRPr lang="en-US" dirty="0">
              <a:solidFill>
                <a:schemeClr val="accent5"/>
              </a:solidFill>
            </a:endParaRPr>
          </a:p>
          <a:p>
            <a:pPr marL="457200" indent="-457200">
              <a:buBlip>
                <a:blip r:embed="rId2"/>
              </a:buBlip>
            </a:pPr>
            <a:r>
              <a:rPr lang="en-US" b="1" dirty="0"/>
              <a:t>Let’s try it out</a:t>
            </a:r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CC658D-8900-55D2-EA76-2A88012372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198703"/>
              </p:ext>
            </p:extLst>
          </p:nvPr>
        </p:nvGraphicFramePr>
        <p:xfrm>
          <a:off x="1612900" y="2148840"/>
          <a:ext cx="8128000" cy="25603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2813955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134622832"/>
                    </a:ext>
                  </a:extLst>
                </a:gridCol>
              </a:tblGrid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Markdown Syntax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55066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Heading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4561327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**Bold text** or __Bold text__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69821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*Italic text* or _Italic text_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2937898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Highlight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dirty="0">
                          <a:effectLst/>
                        </a:rPr>
                        <a:t>==Highlighted text==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1128886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Unordered 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- First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210059"/>
                  </a:ext>
                </a:extLst>
              </a:tr>
              <a:tr h="2496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[title](https://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www.example.com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9491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0677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54C697EB-31BA-594B-8371-830AA3B8DDF7}"/>
    </a:ext>
  </a:extLst>
</a:theme>
</file>

<file path=ppt/theme/theme2.xml><?xml version="1.0" encoding="utf-8"?>
<a:theme xmlns:a="http://schemas.openxmlformats.org/drawingml/2006/main" name="1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8D2F9C57-5267-5947-A8E1-1D6CBD5EA1CB}"/>
    </a:ext>
  </a:extLst>
</a:theme>
</file>

<file path=ppt/theme/theme3.xml><?xml version="1.0" encoding="utf-8"?>
<a:theme xmlns:a="http://schemas.openxmlformats.org/drawingml/2006/main" name="2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2513D8CB-3B6B-5547-A331-D7470A3DFC1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d8a2230-54d9-4525-a072-aaf2ad3921af" xsi:nil="true"/>
    <lcf76f155ced4ddcb4097134ff3c332f xmlns="3e861e5c-b9b4-4f4a-a39d-d4f58c595d5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022E11B6C55F458F03297D129AC5C7" ma:contentTypeVersion="16" ma:contentTypeDescription="Create a new document." ma:contentTypeScope="" ma:versionID="c5de254797c2e30b1c1dab67e1fdd087">
  <xsd:schema xmlns:xsd="http://www.w3.org/2001/XMLSchema" xmlns:xs="http://www.w3.org/2001/XMLSchema" xmlns:p="http://schemas.microsoft.com/office/2006/metadata/properties" xmlns:ns2="3e861e5c-b9b4-4f4a-a39d-d4f58c595d50" xmlns:ns3="3d8a2230-54d9-4525-a072-aaf2ad3921af" targetNamespace="http://schemas.microsoft.com/office/2006/metadata/properties" ma:root="true" ma:fieldsID="40d7e893f6517adbc7421dea239a8bfb" ns2:_="" ns3:_="">
    <xsd:import namespace="3e861e5c-b9b4-4f4a-a39d-d4f58c595d50"/>
    <xsd:import namespace="3d8a2230-54d9-4525-a072-aaf2ad3921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861e5c-b9b4-4f4a-a39d-d4f58c595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026aac-6b52-4d7e-a64d-f3ee90946f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a2230-54d9-4525-a072-aaf2ad3921a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f9d5615-4cdb-4eba-9af8-b29b99cf6c5f}" ma:internalName="TaxCatchAll" ma:showField="CatchAllData" ma:web="3d8a2230-54d9-4525-a072-aaf2ad3921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F36D4B-89AA-43AA-A4F8-41021B5395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4CE31FE-9010-4DD9-ACBF-74A5EE27FA83}">
  <ds:schemaRefs>
    <ds:schemaRef ds:uri="http://schemas.microsoft.com/office/2006/metadata/properties"/>
    <ds:schemaRef ds:uri="http://schemas.microsoft.com/office/infopath/2007/PartnerControls"/>
    <ds:schemaRef ds:uri="3d8a2230-54d9-4525-a072-aaf2ad3921af"/>
    <ds:schemaRef ds:uri="3e861e5c-b9b4-4f4a-a39d-d4f58c595d50"/>
  </ds:schemaRefs>
</ds:datastoreItem>
</file>

<file path=customXml/itemProps3.xml><?xml version="1.0" encoding="utf-8"?>
<ds:datastoreItem xmlns:ds="http://schemas.openxmlformats.org/officeDocument/2006/customXml" ds:itemID="{3CEC6E53-DE09-48B9-92A5-3EADF1FB28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861e5c-b9b4-4f4a-a39d-d4f58c595d50"/>
    <ds:schemaRef ds:uri="3d8a2230-54d9-4525-a072-aaf2ad3921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4619</TotalTime>
  <Words>879</Words>
  <Application>Microsoft Macintosh PowerPoint</Application>
  <PresentationFormat>Widescreen</PresentationFormat>
  <Paragraphs>126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Clancy</vt:lpstr>
      <vt:lpstr>Roboto</vt:lpstr>
      <vt:lpstr>Wingdings</vt:lpstr>
      <vt:lpstr>Office Theme</vt:lpstr>
      <vt:lpstr>1_Custom Design</vt:lpstr>
      <vt:lpstr>2_Custom Design</vt:lpstr>
      <vt:lpstr>Spotted Python Week 1 Tutorial</vt:lpstr>
      <vt:lpstr>Welcome Spotted Pythons</vt:lpstr>
      <vt:lpstr>Welcome Spotted Pythons</vt:lpstr>
      <vt:lpstr>Michelle (she/her)</vt:lpstr>
      <vt:lpstr>Michelle (she/her)</vt:lpstr>
      <vt:lpstr>I want to hear from you</vt:lpstr>
      <vt:lpstr>Reminders</vt:lpstr>
      <vt:lpstr>Why use GitHub</vt:lpstr>
      <vt:lpstr>Setting up Python and GitHub</vt:lpstr>
      <vt:lpstr>Making a new repository</vt:lpstr>
      <vt:lpstr>Cloning a new repository</vt:lpstr>
      <vt:lpstr>Setting up GitHub</vt:lpstr>
      <vt:lpstr>Setting up GitHub</vt:lpstr>
      <vt:lpstr>Setting up GitHub</vt:lpstr>
      <vt:lpstr>Markdown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Michelle Ding</dc:creator>
  <cp:lastModifiedBy>Michelle Ding</cp:lastModifiedBy>
  <cp:revision>14</cp:revision>
  <dcterms:created xsi:type="dcterms:W3CDTF">2024-09-05T14:10:30Z</dcterms:created>
  <dcterms:modified xsi:type="dcterms:W3CDTF">2026-09-18T01:36:58Z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0x010100F4022E11B6C55F458F03297D129AC5C7</vt:lpwstr>
  </property>
</Properties>
</file>