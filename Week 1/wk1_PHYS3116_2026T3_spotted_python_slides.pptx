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23"/>
  </p:notesMasterIdLst>
  <p:handoutMasterIdLst>
    <p:handoutMasterId r:id="rId24"/>
  </p:handoutMasterIdLst>
  <p:sldIdLst>
    <p:sldId id="258" r:id="rId7"/>
    <p:sldId id="288" r:id="rId8"/>
    <p:sldId id="305" r:id="rId9"/>
    <p:sldId id="306" r:id="rId10"/>
    <p:sldId id="303" r:id="rId11"/>
    <p:sldId id="304" r:id="rId12"/>
    <p:sldId id="289" r:id="rId13"/>
    <p:sldId id="290" r:id="rId14"/>
    <p:sldId id="291" r:id="rId15"/>
    <p:sldId id="292" r:id="rId16"/>
    <p:sldId id="307" r:id="rId17"/>
    <p:sldId id="308" r:id="rId18"/>
    <p:sldId id="309" r:id="rId19"/>
    <p:sldId id="310" r:id="rId20"/>
    <p:sldId id="298" r:id="rId21"/>
    <p:sldId id="31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65" autoAdjust="0"/>
    <p:restoredTop sz="86290" autoAdjust="0"/>
  </p:normalViewPr>
  <p:slideViewPr>
    <p:cSldViewPr snapToGrid="0" snapToObjects="1">
      <p:cViewPr varScale="1">
        <p:scale>
          <a:sx n="190" d="100"/>
          <a:sy n="190" d="100"/>
        </p:scale>
        <p:origin x="232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5" d="100"/>
          <a:sy n="155" d="100"/>
        </p:scale>
        <p:origin x="59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9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385383" y="-277157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8400" y="0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1" y="0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B927EE41-A83A-A9AD-F2C3-0827F1440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024056">
            <a:off x="3583339" y="-257331"/>
            <a:ext cx="6243723" cy="7372662"/>
          </a:xfrm>
          <a:prstGeom prst="rect">
            <a:avLst/>
          </a:prstGeom>
        </p:spPr>
      </p:pic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85" y="3515321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3B341F3-514D-F42F-D0AA-C75B36DDF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59043" y="1428646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icon to add pictur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E4149BEC-B55D-3611-DBCF-0E9A57DC67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0014F36-07A5-3AE9-AB47-224C3C934A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93600" y="5419759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064B1A81-90D8-9D68-62EB-C2915DE66A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0400" y="275357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 dirty="0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 descr="Click to edit body text styles on the left side of slide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 descr="Click to edit body text styles on the right side of slide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 dirty="0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l="30378"/>
          <a:stretch/>
        </p:blipFill>
        <p:spPr>
          <a:xfrm rot="10800000">
            <a:off x="8269200" y="-1"/>
            <a:ext cx="3922800" cy="6069303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75487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1557173" y="-82749"/>
            <a:ext cx="5957925" cy="6417766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212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icon to add pictur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4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549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9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749104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504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29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5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83848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20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8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Title goes here</a:t>
            </a:r>
            <a:endParaRPr lang="en-US" dirty="0"/>
          </a:p>
        </p:txBody>
      </p:sp>
      <p:sp>
        <p:nvSpPr>
          <p:cNvPr id="3" name="Text Placeholder 2" descr="Click to add secondary details&#10;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  <p:sldLayoutId id="2147483746" r:id="rId7"/>
    <p:sldLayoutId id="2147483747" r:id="rId8"/>
    <p:sldLayoutId id="2147483748" r:id="rId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body text styles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18/9/2026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18/9/2026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hyperlink" Target="mailto:michelle.ding@unsw.edu.au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5" Type="http://schemas.openxmlformats.org/officeDocument/2006/relationships/hyperlink" Target="https://code.visualstudio.com/docs/sourcecontrol/github" TargetMode="External"/><Relationship Id="rId4" Type="http://schemas.openxmlformats.org/officeDocument/2006/relationships/hyperlink" Target="https://adacs-australia.github.io/2023-03-20-Coding-Best-Practices-Workshop/GitHub/index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www.anaconda.com/docs/getting-started/installation" TargetMode="External"/><Relationship Id="rId5" Type="http://schemas.openxmlformats.org/officeDocument/2006/relationships/hyperlink" Target="https://code.visualstudio.com/" TargetMode="External"/><Relationship Id="rId4" Type="http://schemas.openxmlformats.org/officeDocument/2006/relationships/hyperlink" Target="https://desktop.github.com/download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hebell/PHYS3116_2026T3.gi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kdownguide.org/cheat-sheet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6CFD-3D6C-4B9E-0F74-0737AFF6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68785"/>
            <a:ext cx="10017457" cy="252043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Spotted Python</a:t>
            </a: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Week 1 Tutorial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C31E8A-07CC-939B-F7AC-6A4366E11BF6}"/>
              </a:ext>
            </a:extLst>
          </p:cNvPr>
          <p:cNvSpPr txBox="1">
            <a:spLocks/>
          </p:cNvSpPr>
          <p:nvPr/>
        </p:nvSpPr>
        <p:spPr>
          <a:xfrm>
            <a:off x="10017457" y="5657671"/>
            <a:ext cx="2174543" cy="120032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﻿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en-US" dirty="0"/>
              <a:t>Course Reminders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GitHub Setup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Markdown</a:t>
            </a:r>
          </a:p>
        </p:txBody>
      </p:sp>
    </p:spTree>
    <p:extLst>
      <p:ext uri="{BB962C8B-B14F-4D97-AF65-F5344CB8AC3E}">
        <p14:creationId xmlns:p14="http://schemas.microsoft.com/office/powerpoint/2010/main" val="11104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D91B-DBD7-6744-EB06-D4527A05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Welcome Spotted Pythons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44F98-D0DB-9B97-4687-41471920D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9375"/>
            <a:ext cx="6469037" cy="4879249"/>
          </a:xfrm>
        </p:spPr>
        <p:txBody>
          <a:bodyPr lIns="360000" tIns="180000" rIns="360000" bIns="180000" anchor="ctr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Coding is an important skill for astrophysics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This stream is designed to learn coding at a slower pace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All examples and materials are the same across the 2 streams, but approached in different ways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Finn will be the tutor for Morelia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F7A5F6-4106-47F6-19A4-226CCEB201CF}"/>
              </a:ext>
            </a:extLst>
          </p:cNvPr>
          <p:cNvGrpSpPr/>
          <p:nvPr/>
        </p:nvGrpSpPr>
        <p:grpSpPr>
          <a:xfrm>
            <a:off x="6469037" y="1451229"/>
            <a:ext cx="4410501" cy="3955539"/>
            <a:chOff x="6578219" y="2067152"/>
            <a:chExt cx="4410501" cy="39555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5C81A3-F860-C7F3-F0C3-E1A8D003F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9413" y="2067152"/>
              <a:ext cx="3728111" cy="2796083"/>
            </a:xfrm>
            <a:prstGeom prst="rect">
              <a:avLst/>
            </a:prstGeom>
          </p:spPr>
        </p:pic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4F9DB35-D83F-B129-676C-78B34F07ED4A}"/>
                </a:ext>
              </a:extLst>
            </p:cNvPr>
            <p:cNvSpPr txBox="1">
              <a:spLocks/>
            </p:cNvSpPr>
            <p:nvPr/>
          </p:nvSpPr>
          <p:spPr>
            <a:xfrm>
              <a:off x="6578219" y="4874194"/>
              <a:ext cx="4410501" cy="114849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dirty="0">
                  <a:solidFill>
                    <a:schemeClr val="accent6"/>
                  </a:solidFill>
                  <a:latin typeface="+mn-lt"/>
                </a:rPr>
                <a:t>I am a small friendly snake!</a:t>
              </a:r>
            </a:p>
            <a:p>
              <a:pPr algn="ctr"/>
              <a:r>
                <a:rPr lang="en-US" sz="1800" dirty="0">
                  <a:solidFill>
                    <a:schemeClr val="accent6"/>
                  </a:solidFill>
                  <a:latin typeface="+mn-lt"/>
                </a:rPr>
                <a:t>If you have any questions, ask in tutorials, on the forum or via email</a:t>
              </a:r>
            </a:p>
            <a:p>
              <a:pPr algn="ctr"/>
              <a:r>
                <a:rPr lang="en-US" sz="1800" dirty="0">
                  <a:solidFill>
                    <a:schemeClr val="accent5"/>
                  </a:solidFill>
                  <a:latin typeface="+mn-lt"/>
                </a:rPr>
                <a:t>(</a:t>
              </a:r>
              <a:r>
                <a:rPr lang="en-US" sz="1800" dirty="0">
                  <a:solidFill>
                    <a:schemeClr val="accent5"/>
                  </a:solidFill>
                  <a:latin typeface="+mn-lt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michelle.ding@unsw.edu.au</a:t>
              </a:r>
              <a:r>
                <a:rPr lang="en-US" sz="1800" dirty="0">
                  <a:solidFill>
                    <a:schemeClr val="accent5"/>
                  </a:solidFill>
                  <a:latin typeface="+mn-lt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593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D093-7A73-C8B7-EE61-0BAFE8FC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34CB-C3B0-9C3E-8482-36B9E1E1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Welcome Spotted Pythons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553E-8BFC-D51D-BA3B-3F8098DC4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9375"/>
            <a:ext cx="11353800" cy="4879249"/>
          </a:xfrm>
        </p:spPr>
        <p:txBody>
          <a:bodyPr lIns="360000" tIns="180000" rIns="360000" bIns="180000" anchor="ctr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Coding is an important skill for astrophysics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This stream is designed to learn coding at a slower pace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All examples and materials are the same across the 2 streams, but approached in different ways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Finn will be the tutor for Morelia</a:t>
            </a:r>
          </a:p>
        </p:txBody>
      </p:sp>
    </p:spTree>
    <p:extLst>
      <p:ext uri="{BB962C8B-B14F-4D97-AF65-F5344CB8AC3E}">
        <p14:creationId xmlns:p14="http://schemas.microsoft.com/office/powerpoint/2010/main" val="203919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F3D2-AB4A-81B1-310F-2D2FD260F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7F44-4559-BFC7-AD76-914027A7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Michelle (she/her)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4928-E63F-8B43-0D7E-4914FFE0A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72912"/>
            <a:ext cx="11353799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en-AU" dirty="0"/>
              <a:t>3rd year PhD student</a:t>
            </a:r>
          </a:p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en-AU" dirty="0"/>
              <a:t>Wanted to be a singer before I was 11</a:t>
            </a:r>
          </a:p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en-AU" dirty="0"/>
              <a:t>Decided to be an astronomer after I watched a documentary about Black Holes</a:t>
            </a:r>
          </a:p>
        </p:txBody>
      </p:sp>
    </p:spTree>
    <p:extLst>
      <p:ext uri="{BB962C8B-B14F-4D97-AF65-F5344CB8AC3E}">
        <p14:creationId xmlns:p14="http://schemas.microsoft.com/office/powerpoint/2010/main" val="590247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73736-FCB3-0010-E0B1-1057DC2E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7CE5-8874-05A7-160C-3C28ED907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Michelle (she/her)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C801-8587-35ED-E13A-C08ECA00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72912"/>
            <a:ext cx="11353799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20000"/>
              </a:lnSpc>
              <a:buBlip>
                <a:blip r:embed="rId3"/>
              </a:buBlip>
            </a:pPr>
            <a:r>
              <a:rPr lang="en-AU" dirty="0"/>
              <a:t>At university I jumped around multiple research groups</a:t>
            </a:r>
          </a:p>
          <a:p>
            <a:pPr marL="687600" lvl="1" indent="-457200">
              <a:lnSpc>
                <a:spcPct val="120000"/>
              </a:lnSpc>
              <a:buBlip>
                <a:blip r:embed="rId3"/>
              </a:buBlip>
            </a:pPr>
            <a:r>
              <a:rPr lang="en-AU" dirty="0"/>
              <a:t>Undergrad research – pipeline to distinguish between good and bad data</a:t>
            </a:r>
          </a:p>
          <a:p>
            <a:pPr marL="687600" lvl="1" indent="-457200">
              <a:lnSpc>
                <a:spcPct val="120000"/>
              </a:lnSpc>
              <a:buBlip>
                <a:blip r:embed="rId3"/>
              </a:buBlip>
            </a:pPr>
            <a:r>
              <a:rPr lang="en-AU" dirty="0"/>
              <a:t>Honours research – strong lensing in group environments</a:t>
            </a:r>
          </a:p>
          <a:p>
            <a:pPr marL="687600" lvl="1" indent="-457200">
              <a:lnSpc>
                <a:spcPct val="120000"/>
              </a:lnSpc>
              <a:buBlip>
                <a:blip r:embed="rId3"/>
              </a:buBlip>
            </a:pPr>
            <a:r>
              <a:rPr lang="en-AU" dirty="0"/>
              <a:t>PhD research – PhD structures in edge-on galaxies</a:t>
            </a:r>
          </a:p>
          <a:p>
            <a:pPr marL="457200" indent="-457200">
              <a:lnSpc>
                <a:spcPct val="120000"/>
              </a:lnSpc>
              <a:buBlip>
                <a:blip r:embed="rId3"/>
              </a:buBlip>
            </a:pPr>
            <a:r>
              <a:rPr lang="en-AU" dirty="0"/>
              <a:t>I love teaching, singing, dancing, travelling, going to markets, and seeking out good vegetarian food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E28A36-6479-66BC-A8B7-32CFB08EAE1A}"/>
              </a:ext>
            </a:extLst>
          </p:cNvPr>
          <p:cNvGrpSpPr/>
          <p:nvPr/>
        </p:nvGrpSpPr>
        <p:grpSpPr>
          <a:xfrm>
            <a:off x="1464413" y="4382505"/>
            <a:ext cx="8424969" cy="2304079"/>
            <a:chOff x="975273" y="4317839"/>
            <a:chExt cx="8424969" cy="2304079"/>
          </a:xfrm>
        </p:grpSpPr>
        <p:pic>
          <p:nvPicPr>
            <p:cNvPr id="5" name="Picture 4" descr="A young child doing a split&#10;&#10;AI-generated content may be incorrect.">
              <a:extLst>
                <a:ext uri="{FF2B5EF4-FFF2-40B4-BE49-F238E27FC236}">
                  <a16:creationId xmlns:a16="http://schemas.microsoft.com/office/drawing/2014/main" id="{F3F40D9B-72EF-3837-77C2-EE2387BDB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4623" y="4317839"/>
              <a:ext cx="3072105" cy="2304079"/>
            </a:xfrm>
            <a:prstGeom prst="rect">
              <a:avLst/>
            </a:prstGeom>
          </p:spPr>
        </p:pic>
        <p:pic>
          <p:nvPicPr>
            <p:cNvPr id="7" name="Picture 6" descr="A young child singing into a microphone&#10;&#10;AI-generated content may be incorrect.">
              <a:extLst>
                <a:ext uri="{FF2B5EF4-FFF2-40B4-BE49-F238E27FC236}">
                  <a16:creationId xmlns:a16="http://schemas.microsoft.com/office/drawing/2014/main" id="{864534DF-F2B7-C42F-FF8C-75C3937CF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273" y="4317839"/>
              <a:ext cx="3150036" cy="2304079"/>
            </a:xfrm>
            <a:prstGeom prst="rect">
              <a:avLst/>
            </a:prstGeom>
          </p:spPr>
        </p:pic>
        <p:pic>
          <p:nvPicPr>
            <p:cNvPr id="9" name="Picture 8" descr="A young child wearing a graduation cap and gown&#10;&#10;AI-generated content may be incorrect.">
              <a:extLst>
                <a:ext uri="{FF2B5EF4-FFF2-40B4-BE49-F238E27FC236}">
                  <a16:creationId xmlns:a16="http://schemas.microsoft.com/office/drawing/2014/main" id="{5BC65EE7-694A-A528-FA1E-1AB66ADD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6042" y="4317839"/>
              <a:ext cx="1704200" cy="2304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0573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519-031C-ECFF-C188-F49A14B2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ADE8-5CA7-C811-D7AF-BE6949DC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I want to hear from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B7CDF-0098-7BCC-6ECB-E1830C8D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72912"/>
            <a:ext cx="11353799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en-AU" dirty="0"/>
              <a:t>What is your name</a:t>
            </a:r>
          </a:p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en-AU" dirty="0"/>
              <a:t>What part of astronomy are you most excited about to learn/most interested in?</a:t>
            </a:r>
          </a:p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en-AU" dirty="0"/>
              <a:t>Please give me feedback. I want you to govern what these tutorials are about!</a:t>
            </a:r>
          </a:p>
        </p:txBody>
      </p:sp>
    </p:spTree>
    <p:extLst>
      <p:ext uri="{BB962C8B-B14F-4D97-AF65-F5344CB8AC3E}">
        <p14:creationId xmlns:p14="http://schemas.microsoft.com/office/powerpoint/2010/main" val="335398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7EEA-962F-0472-A614-6FD1EC12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92FE-257C-24F6-9133-E1CAE58D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46155-5FD3-3A79-D8DE-1F914D196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The computational assignment involves collaboration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Each team will have a 5–10 minutes team meeting each week.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You need to attend at least 3 meetings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Group code must be developed on GitHub.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You must commit lines of code and documentation for at least 3 weeks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Commits must contain meaningful analysis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We may ask you to explain your code to us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Responsible AI use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AI references can be wrong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Everything you write can be examinable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All materials covered in the tutorials can be examinable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/>
              <a:t>We can tell AI-generated code apart from originally written code</a:t>
            </a:r>
          </a:p>
        </p:txBody>
      </p:sp>
    </p:spTree>
    <p:extLst>
      <p:ext uri="{BB962C8B-B14F-4D97-AF65-F5344CB8AC3E}">
        <p14:creationId xmlns:p14="http://schemas.microsoft.com/office/powerpoint/2010/main" val="40215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0146-4314-A8F4-DA3E-BF67583F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7E7DE-C5C6-AF39-4357-82100C07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Why use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50D67-5E16-79F5-F813-130A26E5B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Backup of code to reduce the chances of you losing your work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Version control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Automation tools for building and testing your work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Store and present documentation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Recognition for your work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If you are confused by this GitHub tutorial, refer to the following links (there are different ways to setup GitHub):</a:t>
            </a: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https://adacs-australia.github.io/2023-03-20-Coding-Best-Practices-Workshop/GitHub/index.html</a:t>
            </a:r>
            <a:endParaRPr lang="en-AU" dirty="0">
              <a:solidFill>
                <a:schemeClr val="accent5"/>
              </a:solidFill>
            </a:endParaRPr>
          </a:p>
          <a:p>
            <a:pPr marL="687600" lvl="1" indent="-457200">
              <a:lnSpc>
                <a:spcPct val="100000"/>
              </a:lnSpc>
              <a:buBlip>
                <a:blip r:embed="rId3"/>
              </a:buBlip>
            </a:pPr>
            <a:r>
              <a:rPr lang="en-AU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https://code.visualstudio.com/docs/sourcecontrol/github</a:t>
            </a:r>
            <a:endParaRPr lang="en-AU" dirty="0">
              <a:solidFill>
                <a:schemeClr val="accent5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BCFC4-55FC-2183-31A5-90421F2D04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518" y="1755058"/>
            <a:ext cx="1975803" cy="197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4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73F4-D2A9-A107-847A-96C2D3ED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6793-87E1-CBA5-90FC-DA205283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Setting up Python and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D400B-4AE4-461D-672F-2E940E22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Sign up for a free GitHub account: </a:t>
            </a:r>
            <a:r>
              <a:rPr lang="en-AU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endParaRPr lang="en-AU" dirty="0">
              <a:solidFill>
                <a:schemeClr val="accent5"/>
              </a:solidFill>
            </a:endParaRP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Install GitHub Desktop: </a:t>
            </a:r>
            <a:r>
              <a:rPr lang="en-AU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https://desktop.github.com/download/</a:t>
            </a:r>
            <a:r>
              <a:rPr lang="en-AU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Install VS Code: </a:t>
            </a:r>
            <a:r>
              <a:rPr lang="en-AU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r>
              <a:rPr lang="en-AU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Install Miniconda: </a:t>
            </a:r>
            <a:r>
              <a:rPr lang="en-AU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https://www.anaconda.com/docs/getting-started/installation</a:t>
            </a:r>
            <a:endParaRPr lang="en-AU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446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FC5C-7D8F-24B7-EAD9-CCCC38F1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919C-F597-3A55-0251-72B1EBDA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Making a new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8F328-C1E5-D793-2646-F9138213B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6985747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Open GitHub Desktop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Select File </a:t>
            </a:r>
            <a:r>
              <a:rPr lang="en-AU" dirty="0">
                <a:sym typeface="Wingdings" pitchFamily="2" charset="2"/>
              </a:rPr>
              <a:t> New Repository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Enter the name, location you want to save the repository, a description, and tick “Initialize this repository with a README”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Check that the file now exists locally on your laptop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Publish the repository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4077BD-518A-3DD4-00C7-C2DA908E81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7" t="3013" r="2202" b="2224"/>
          <a:stretch>
            <a:fillRect/>
          </a:stretch>
        </p:blipFill>
        <p:spPr>
          <a:xfrm>
            <a:off x="6985747" y="1161173"/>
            <a:ext cx="4065494" cy="5040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75D8BF-ACDD-83C8-4C71-2B7E135A03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4" t="4260" r="1617" b="2924"/>
          <a:stretch>
            <a:fillRect/>
          </a:stretch>
        </p:blipFill>
        <p:spPr>
          <a:xfrm>
            <a:off x="4269442" y="4546952"/>
            <a:ext cx="2716305" cy="220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64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C033A-0FEA-7F6C-5EC8-6AA173AFF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E9E0-5F97-83EF-0165-65BA4EC0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Cloning a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DAA17-B8B6-59B5-ECFA-78C20515A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Go to GitHub website and check your repository is published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We will now clone my repository that you will use for weekly resources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Copy this link: </a:t>
            </a:r>
            <a:r>
              <a:rPr lang="en-AU" dirty="0">
                <a:sym typeface="Wingdings" pitchFamily="2" charset="2"/>
                <a:hlinkClick r:id="rId3"/>
              </a:rPr>
              <a:t>https://github.com/mithebell/PHYS3116_2026T3.git</a:t>
            </a:r>
            <a:endParaRPr lang="en-AU" dirty="0">
              <a:sym typeface="Wingdings" pitchFamily="2" charset="2"/>
            </a:endParaRP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Go back to GitHub Desktop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File  Clone Repository  URL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Paste in the link and clone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To push 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D1947-782B-240B-180C-1E45FB7BE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900" y="3351703"/>
            <a:ext cx="5463241" cy="31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49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D99B8-9885-CC79-9E5F-F2BE36CB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1C9C-573C-0AE3-B9AD-5555AEB32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Making a new Python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B8CE1-9623-9A3E-5920-89A7A94FD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Open VS Code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At the top search bar type in: &gt;Python: Select Interpreter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Choose the base environment from miniconda3 (it should have Conda next to it)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endParaRPr lang="en-AU" dirty="0"/>
          </a:p>
          <a:p>
            <a:pPr lvl="1" indent="0">
              <a:lnSpc>
                <a:spcPct val="100000"/>
              </a:lnSpc>
              <a:buNone/>
            </a:pPr>
            <a:endParaRPr lang="en-AU" dirty="0"/>
          </a:p>
          <a:p>
            <a:pPr lvl="1" indent="0">
              <a:lnSpc>
                <a:spcPct val="100000"/>
              </a:lnSpc>
              <a:buNone/>
            </a:pPr>
            <a:endParaRPr lang="en-AU" dirty="0"/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File  New File  Python File/Jupyter Notebook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Save Python Script or Jupyter Notebook in YOUR repository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endParaRPr lang="en-AU" dirty="0">
              <a:sym typeface="Wingdings" pitchFamily="2" charset="2"/>
            </a:endParaRP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8DB3B2-98D2-5A74-75FF-079C01F06C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63"/>
          <a:stretch>
            <a:fillRect/>
          </a:stretch>
        </p:blipFill>
        <p:spPr>
          <a:xfrm>
            <a:off x="3378200" y="2923988"/>
            <a:ext cx="4597400" cy="114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98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2750-1D57-68F1-BDA7-B71BE960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A6DF-D482-A871-D528-155928BA3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Committing to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4229D-BD22-4908-05F9-C7C071C9F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Open GitHub Desktop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Your new change should have shown up as a changed file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Tick the change you want to commit </a:t>
            </a:r>
            <a:r>
              <a:rPr lang="en-AU" dirty="0">
                <a:sym typeface="Wingdings" pitchFamily="2" charset="2"/>
              </a:rPr>
              <a:t> Commit to main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Here main means you are on the main branch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Branching and forking is not required for this course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1097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91BE-4067-ADC4-516C-DC23CD43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C550-8113-C99D-251C-32365EB3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Working collaboratively on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7A7C-7A02-EA17-61E9-81030D79E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Have one shared GitHub repository for each group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Clone GitHub Desktop onto your laptop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At the start of every coding session: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Go to GitHub Desktop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Repository </a:t>
            </a:r>
            <a:r>
              <a:rPr lang="en-AU" dirty="0">
                <a:sym typeface="Wingdings" pitchFamily="2" charset="2"/>
              </a:rPr>
              <a:t> Pull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Make sure your laptop is up to date with the latest version on GitHub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At the end of every coding session: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Commit and push to GitHub so your group members can see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endParaRPr lang="en-AU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11695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4C39-3032-3BD6-EA9C-3DB93C05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4FCE-A895-B016-21F2-969BCAF1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5E2B-4579-EC86-175C-20EBDB74E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Text-to-HTML conversion tool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Can be used in Jupyter Notebooks for annotation of code</a:t>
            </a:r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endParaRPr lang="en-US" dirty="0"/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Allows mathematical expressions in LaTeX-style syntax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Cheat sheet: </a:t>
            </a:r>
            <a:r>
              <a:rPr lang="en-US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https://www.markdownguide.org/cheat-sheet/</a:t>
            </a:r>
            <a:endParaRPr lang="en-US" dirty="0">
              <a:solidFill>
                <a:schemeClr val="accent5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CC658D-8900-55D2-EA76-2A8801237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198703"/>
              </p:ext>
            </p:extLst>
          </p:nvPr>
        </p:nvGraphicFramePr>
        <p:xfrm>
          <a:off x="1612900" y="2148840"/>
          <a:ext cx="8128000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281395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34622832"/>
                    </a:ext>
                  </a:extLst>
                </a:gridCol>
              </a:tblGrid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Markdown Syntax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550667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Heading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561327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**Bold text** or __Bold text__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698216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Italic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dirty="0">
                          <a:effectLst/>
                        </a:rPr>
                        <a:t>*Italic text* or _Italic text_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937898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dirty="0">
                          <a:effectLst/>
                        </a:rPr>
                        <a:t>==Highlighted text==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128886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Unordered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- First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210059"/>
                  </a:ext>
                </a:extLst>
              </a:tr>
              <a:tr h="2496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[title](https://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www.example.com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491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77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5CDC-4A20-E3F6-7364-EE69704BD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676D-0AAC-4611-666E-625265F27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Practicing 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B532C-598F-F033-0DBD-BF4057A0F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/>
              <a:t>Open VS Code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File  New Text File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Save the file and add the extension .md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Practice writing in Markdown and check the layout using the Markdown Editor</a:t>
            </a:r>
          </a:p>
          <a:p>
            <a:pPr marL="457200" indent="-457200">
              <a:lnSpc>
                <a:spcPct val="100000"/>
              </a:lnSpc>
              <a:buBlip>
                <a:blip r:embed="rId2"/>
              </a:buBlip>
            </a:pPr>
            <a:r>
              <a:rPr lang="en-AU" dirty="0">
                <a:sym typeface="Wingdings" pitchFamily="2" charset="2"/>
              </a:rPr>
              <a:t>Commit the Markdown using instructions from previous slides</a:t>
            </a:r>
          </a:p>
          <a:p>
            <a:pPr marL="687600" lvl="1" indent="-457200">
              <a:lnSpc>
                <a:spcPct val="100000"/>
              </a:lnSpc>
              <a:buBlip>
                <a:blip r:embed="rId2"/>
              </a:buBlip>
            </a:pPr>
            <a:endParaRPr lang="en-AU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1122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54C697EB-31BA-594B-8371-830AA3B8DDF7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8D2F9C57-5267-5947-A8E1-1D6CBD5EA1CB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2513D8CB-3B6B-5547-A331-D7470A3DFC1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8a2230-54d9-4525-a072-aaf2ad3921af" xsi:nil="true"/>
    <lcf76f155ced4ddcb4097134ff3c332f xmlns="3e861e5c-b9b4-4f4a-a39d-d4f58c595d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22E11B6C55F458F03297D129AC5C7" ma:contentTypeVersion="16" ma:contentTypeDescription="Create a new document." ma:contentTypeScope="" ma:versionID="c5de254797c2e30b1c1dab67e1fdd087">
  <xsd:schema xmlns:xsd="http://www.w3.org/2001/XMLSchema" xmlns:xs="http://www.w3.org/2001/XMLSchema" xmlns:p="http://schemas.microsoft.com/office/2006/metadata/properties" xmlns:ns2="3e861e5c-b9b4-4f4a-a39d-d4f58c595d50" xmlns:ns3="3d8a2230-54d9-4525-a072-aaf2ad3921af" targetNamespace="http://schemas.microsoft.com/office/2006/metadata/properties" ma:root="true" ma:fieldsID="40d7e893f6517adbc7421dea239a8bfb" ns2:_="" ns3:_="">
    <xsd:import namespace="3e861e5c-b9b4-4f4a-a39d-d4f58c595d50"/>
    <xsd:import namespace="3d8a2230-54d9-4525-a072-aaf2ad39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61e5c-b9b4-4f4a-a39d-d4f58c595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230-54d9-4525-a072-aaf2ad392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9d5615-4cdb-4eba-9af8-b29b99cf6c5f}" ma:internalName="TaxCatchAll" ma:showField="CatchAllData" ma:web="3d8a2230-54d9-4525-a072-aaf2ad39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F36D4B-89AA-43AA-A4F8-41021B5395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CE31FE-9010-4DD9-ACBF-74A5EE27FA83}">
  <ds:schemaRefs>
    <ds:schemaRef ds:uri="http://schemas.microsoft.com/office/2006/metadata/properties"/>
    <ds:schemaRef ds:uri="http://schemas.microsoft.com/office/infopath/2007/PartnerControls"/>
    <ds:schemaRef ds:uri="3d8a2230-54d9-4525-a072-aaf2ad3921af"/>
    <ds:schemaRef ds:uri="3e861e5c-b9b4-4f4a-a39d-d4f58c595d50"/>
  </ds:schemaRefs>
</ds:datastoreItem>
</file>

<file path=customXml/itemProps3.xml><?xml version="1.0" encoding="utf-8"?>
<ds:datastoreItem xmlns:ds="http://schemas.openxmlformats.org/officeDocument/2006/customXml" ds:itemID="{3CEC6E53-DE09-48B9-92A5-3EADF1FB28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61e5c-b9b4-4f4a-a39d-d4f58c595d50"/>
    <ds:schemaRef ds:uri="3d8a2230-54d9-4525-a072-aaf2ad39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4725</TotalTime>
  <Words>910</Words>
  <Application>Microsoft Macintosh PowerPoint</Application>
  <PresentationFormat>Widescreen</PresentationFormat>
  <Paragraphs>128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Clancy</vt:lpstr>
      <vt:lpstr>Roboto</vt:lpstr>
      <vt:lpstr>Wingdings</vt:lpstr>
      <vt:lpstr>Office Theme</vt:lpstr>
      <vt:lpstr>1_Custom Design</vt:lpstr>
      <vt:lpstr>2_Custom Design</vt:lpstr>
      <vt:lpstr>Spotted Python Week 1 Tutorial</vt:lpstr>
      <vt:lpstr>Welcome Spotted Pythons</vt:lpstr>
      <vt:lpstr>Welcome Spotted Pythons</vt:lpstr>
      <vt:lpstr>Michelle (she/her)</vt:lpstr>
      <vt:lpstr>Michelle (she/her)</vt:lpstr>
      <vt:lpstr>I want to hear from you</vt:lpstr>
      <vt:lpstr>Reminders</vt:lpstr>
      <vt:lpstr>Why use GitHub</vt:lpstr>
      <vt:lpstr>Setting up Python and GitHub</vt:lpstr>
      <vt:lpstr>Making a new repository</vt:lpstr>
      <vt:lpstr>Cloning a repository</vt:lpstr>
      <vt:lpstr>Making a new Python file</vt:lpstr>
      <vt:lpstr>Committing to GitHub</vt:lpstr>
      <vt:lpstr>Working collaboratively on GitHub</vt:lpstr>
      <vt:lpstr>Markdown</vt:lpstr>
      <vt:lpstr>Practicing Markdown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Ding</dc:creator>
  <cp:lastModifiedBy>Michelle Ding</cp:lastModifiedBy>
  <cp:revision>16</cp:revision>
  <dcterms:created xsi:type="dcterms:W3CDTF">2024-09-05T14:10:30Z</dcterms:created>
  <dcterms:modified xsi:type="dcterms:W3CDTF">2026-09-18T03:22:30Z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0x010100F4022E11B6C55F458F03297D129AC5C7</vt:lpwstr>
  </property>
</Properties>
</file>